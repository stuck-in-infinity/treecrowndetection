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78" r:id="rId5"/>
    <p:sldId id="272" r:id="rId6"/>
    <p:sldId id="279" r:id="rId7"/>
    <p:sldId id="280" r:id="rId8"/>
    <p:sldId id="281" r:id="rId9"/>
    <p:sldId id="28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77" dt="2026-10-12T08:56:28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e.iitd.ernet.in/act4dws5/drone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2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5840" y="1051560"/>
            <a:ext cx="10180320" cy="1600200"/>
          </a:xfrm>
          <a:prstGeom prst="roundRect">
            <a:avLst>
              <a:gd name="adj" fmla="val 8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407083"/>
            <a:ext cx="9631680" cy="8891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Calibri"/>
              </a:rPr>
              <a:t>Habitat Characterization using</a:t>
            </a:r>
            <a:endParaRPr lang="en-US" sz="240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Calibri"/>
              </a:rPr>
              <a:t>Remote Image Sensory</a:t>
            </a:r>
            <a:endParaRPr sz="240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1087221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272525"/>
                </a:solidFill>
                <a:latin typeface="Calibri"/>
              </a:rPr>
              <a:t>Susmit Mahato</a:t>
            </a:r>
            <a:endParaRPr lang="en-US" sz="2400" b="1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3977639"/>
            <a:ext cx="10872216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latin typeface="Calibri"/>
              </a:rPr>
              <a:t>Supervisor: Prof. </a:t>
            </a:r>
            <a:r>
              <a:rPr sz="2400" b="1" err="1">
                <a:latin typeface="Calibri"/>
              </a:rPr>
              <a:t>Aaditeshwar</a:t>
            </a:r>
            <a:r>
              <a:rPr sz="2400" b="1">
                <a:latin typeface="Calibri"/>
              </a:rPr>
              <a:t> Seth</a:t>
            </a:r>
            <a:endParaRPr lang="en-US" sz="2400" b="1">
              <a:latin typeface="Calibri"/>
              <a:ea typeface="Calibri"/>
              <a:cs typeface="Calibri"/>
            </a:endParaRPr>
          </a:p>
          <a:p>
            <a:pPr algn="ctr">
              <a:spcAft>
                <a:spcPts val="400"/>
              </a:spcAft>
            </a:pPr>
            <a:r>
              <a:rPr sz="2400" b="0">
                <a:latin typeface="Calibri"/>
              </a:rPr>
              <a:t>IIT Delhi</a:t>
            </a:r>
            <a:endParaRPr sz="2400" b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8F9F5-5B57-A16A-DAD3-1A0EF2B0A357}"/>
              </a:ext>
            </a:extLst>
          </p:cNvPr>
          <p:cNvSpPr txBox="1"/>
          <p:nvPr/>
        </p:nvSpPr>
        <p:spPr>
          <a:xfrm>
            <a:off x="658368" y="5257800"/>
            <a:ext cx="1087221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dirty="0">
                <a:solidFill>
                  <a:srgbClr val="5A5A6E"/>
                </a:solidFill>
                <a:latin typeface="Calibri"/>
              </a:rPr>
              <a:t>9th October 2026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1380744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1325880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Upload a drone orthomosaic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673352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One big stitched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drone image </a:t>
            </a:r>
            <a:r>
              <a:rPr sz="1600" b="0">
                <a:solidFill>
                  <a:srgbClr val="5F5C5C"/>
                </a:solidFill>
                <a:latin typeface="Calibri"/>
              </a:rPr>
              <a:t>of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any </a:t>
            </a:r>
            <a:r>
              <a:rPr sz="1600" b="0">
                <a:solidFill>
                  <a:srgbClr val="5F5C5C"/>
                </a:solidFill>
                <a:latin typeface="Calibri"/>
              </a:rPr>
              <a:t>site.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313432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258568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Our model finds the tree crowns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606040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It outlines every crown it can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detect in</a:t>
            </a:r>
            <a:r>
              <a:rPr sz="1600" b="0">
                <a:solidFill>
                  <a:srgbClr val="5F5C5C"/>
                </a:solidFill>
                <a:latin typeface="Calibri"/>
              </a:rPr>
              <a:t> the image.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46120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319125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Similar crowns are grouped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38728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en-US" sz="1600">
                <a:solidFill>
                  <a:srgbClr val="5F5C5C"/>
                </a:solidFill>
                <a:latin typeface="Calibri"/>
              </a:rPr>
              <a:t>User get</a:t>
            </a:r>
            <a:r>
              <a:rPr sz="1600" b="0">
                <a:solidFill>
                  <a:srgbClr val="5F5C5C"/>
                </a:solidFill>
                <a:latin typeface="Calibri"/>
              </a:rPr>
              <a:t> sample pictures of each group to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review </a:t>
            </a:r>
            <a:r>
              <a:rPr sz="1600" b="0">
                <a:solidFill>
                  <a:srgbClr val="5F5C5C"/>
                </a:solidFill>
                <a:latin typeface="Calibri"/>
              </a:rPr>
              <a:t>at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 on frontend, rest can be viewed and downloaded from shareable URL</a:t>
            </a:r>
            <a:r>
              <a:rPr sz="1600" b="0">
                <a:solidFill>
                  <a:srgbClr val="5F5C5C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78807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4123944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You name each group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471416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Every tree in that group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get labelled </a:t>
            </a:r>
            <a:r>
              <a:rPr sz="1600" b="0">
                <a:solidFill>
                  <a:srgbClr val="5F5C5C"/>
                </a:solidFill>
                <a:latin typeface="Calibri"/>
              </a:rPr>
              <a:t>the species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user inputted</a:t>
            </a:r>
            <a:r>
              <a:rPr sz="1600" b="0">
                <a:solidFill>
                  <a:srgbClr val="5F5C5C"/>
                </a:solidFill>
                <a:latin typeface="Calibri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111495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5056631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Download your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5404103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A species map, </a:t>
            </a:r>
            <a:r>
              <a:rPr lang="en-US" sz="1600" b="0">
                <a:solidFill>
                  <a:srgbClr val="5F5C5C"/>
                </a:solidFill>
                <a:latin typeface="Calibri"/>
              </a:rPr>
              <a:t>csv table summary</a:t>
            </a:r>
            <a:r>
              <a:rPr sz="1600" b="0">
                <a:solidFill>
                  <a:srgbClr val="5F5C5C"/>
                </a:solidFill>
                <a:latin typeface="Calibri"/>
              </a:rPr>
              <a:t> and a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stack item</a:t>
            </a:r>
            <a:r>
              <a:rPr sz="1600" b="0">
                <a:solidFill>
                  <a:srgbClr val="5F5C5C"/>
                </a:solidFill>
                <a:latin typeface="Calibri"/>
              </a:rPr>
              <a:t>.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 </a:t>
            </a:r>
            <a:endParaRPr sz="1600" b="0">
              <a:solidFill>
                <a:srgbClr val="5F5C5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The </a:t>
            </a:r>
            <a:r>
              <a:rPr lang="en-US" sz="2200">
                <a:solidFill>
                  <a:srgbClr val="FFFFFF"/>
                </a:solidFill>
                <a:latin typeface="Calibri"/>
              </a:rPr>
              <a:t>Pipeline : </a:t>
            </a:r>
            <a:endParaRPr lang="en-US" sz="220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221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err="1">
                <a:solidFill>
                  <a:srgbClr val="272525"/>
                </a:solidFill>
                <a:latin typeface="Calibri"/>
              </a:rPr>
              <a:t>Orthomosaic</a:t>
            </a:r>
            <a:r>
              <a:rPr sz="1800" b="0">
                <a:solidFill>
                  <a:srgbClr val="272525"/>
                </a:solidFill>
                <a:latin typeface="Calibri"/>
              </a:rPr>
              <a:t> goes in. A species map comes out. Eight steps, one of them </a:t>
            </a:r>
            <a:r>
              <a:rPr lang="en-US">
                <a:solidFill>
                  <a:srgbClr val="272525"/>
                </a:solidFill>
                <a:latin typeface="Calibri"/>
              </a:rPr>
              <a:t>which is labelling requires user inputs</a:t>
            </a:r>
            <a:r>
              <a:rPr sz="1800" b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722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5A5A6E"/>
                </a:solidFill>
                <a:latin typeface="Calibri"/>
              </a:rPr>
              <a:t>Stage 1 · Find the crowns (automatic)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64992"/>
            <a:ext cx="1087221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5A5A6E"/>
                </a:solidFill>
                <a:latin typeface="Calibri"/>
              </a:rPr>
              <a:t>Stage 2 · Group and name (automatic, then </a:t>
            </a:r>
            <a:r>
              <a:rPr lang="en-US" sz="1600" b="1">
                <a:solidFill>
                  <a:srgbClr val="5A5A6E"/>
                </a:solidFill>
                <a:latin typeface="Calibri"/>
              </a:rPr>
              <a:t>labelling </a:t>
            </a:r>
            <a:r>
              <a:rPr sz="1600" b="1">
                <a:solidFill>
                  <a:srgbClr val="5A5A6E"/>
                </a:solidFill>
                <a:latin typeface="Calibri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64792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11095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1 · Orthomosaic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GeoTIFF from a drone survey, ideally finer than 8 cm/px.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1527" y="2359152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02152" y="1764792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911095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2 · Rescale and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1929384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Brought to 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GSD best suited for the model,</a:t>
            </a:r>
            <a:r>
              <a:rPr sz="1300" b="0">
                <a:solidFill>
                  <a:srgbClr val="272525"/>
                </a:solidFill>
                <a:latin typeface="Calibri"/>
              </a:rPr>
              <a:t> then cut into overlapping tiles.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2359152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45936" y="1764792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1911095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3 · Detectree2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267712"/>
            <a:ext cx="1929384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Mask R-CNN outlines the crowns in each tile, with a confidence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 score for each crown</a:t>
            </a:r>
            <a:r>
              <a:rPr sz="1300" b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69096" y="2359152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89720" y="1764792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90888" y="1911095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4 · Crown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267712"/>
            <a:ext cx="1929384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Tiles stitched; weak, tiny, huge and duplicate crowns 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are removed</a:t>
            </a:r>
            <a:r>
              <a:rPr sz="1300" b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12463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858768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5 · Crown crops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215383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Each polygon is cut from the full-resolution image.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081527" y="4306824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02152" y="3712463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3858768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6 · DINOv2 +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215383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One embedding per crown, reduced to 50 dimensions.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25312" y="4306824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45936" y="3712463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7104" y="3858768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7 · KMeans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215383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Crowns grouped for every k; three scores suggest a k.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69096" y="4306824"/>
            <a:ext cx="329184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89720" y="3712463"/>
            <a:ext cx="2331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09608" y="3858768"/>
            <a:ext cx="22037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8 · </a:t>
            </a:r>
            <a:r>
              <a:rPr lang="en-US" sz="1600" b="1">
                <a:solidFill>
                  <a:srgbClr val="3333B2"/>
                </a:solidFill>
                <a:latin typeface="Calibri"/>
              </a:rPr>
              <a:t>User labels</a:t>
            </a:r>
            <a:endParaRPr sz="1600" b="1">
              <a:solidFill>
                <a:srgbClr val="3333B2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90888" y="4215383"/>
            <a:ext cx="1929384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72525"/>
                </a:solidFill>
                <a:latin typeface="Calibri"/>
              </a:rPr>
              <a:t>The user after reviewing the crowns names</a:t>
            </a:r>
            <a:r>
              <a:rPr sz="1300" b="0">
                <a:solidFill>
                  <a:srgbClr val="272525"/>
                </a:solidFill>
                <a:latin typeface="Calibri"/>
              </a:rPr>
              <a:t> each group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 and each tree crown in that group gets labelled.</a:t>
            </a:r>
            <a:endParaRPr lang="en-US" sz="1300">
              <a:solidFill>
                <a:srgbClr val="272525"/>
              </a:solidFill>
              <a:ea typeface="Calibri"/>
              <a:cs typeface="Calibri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10236708" y="5175504"/>
            <a:ext cx="237744" cy="274320"/>
          </a:xfrm>
          <a:prstGeom prst="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8368" y="5486400"/>
            <a:ext cx="10863072" cy="64008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5669280"/>
            <a:ext cx="1046073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Exports  </a:t>
            </a:r>
            <a:r>
              <a:rPr sz="1600" b="0">
                <a:solidFill>
                  <a:srgbClr val="FFFFFF"/>
                </a:solidFill>
                <a:latin typeface="Calibri"/>
              </a:rPr>
              <a:t>species map (KMZ)  ·  per-crown CSV  ·  crown polygons (GeoJSON)  ·  STAC item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72525"/>
                </a:solidFill>
                <a:latin typeface="Calibri"/>
              </a:rPr>
              <a:t>The backend owns state, the worker computes, and the orchestrator only schedules.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User's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192938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Signs in with Google.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6002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74650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Web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1929384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272525"/>
                </a:solidFill>
                <a:latin typeface="Calibri"/>
              </a:rPr>
              <a:t>Webpage </a:t>
            </a:r>
            <a:r>
              <a:rPr sz="1300" b="0" dirty="0">
                <a:solidFill>
                  <a:srgbClr val="272525"/>
                </a:solidFill>
                <a:latin typeface="Calibri"/>
              </a:rPr>
              <a:t>served by nginx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 hosted on the link below</a:t>
            </a:r>
            <a:r>
              <a:rPr sz="1300" b="0" dirty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6002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74650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103120"/>
            <a:ext cx="192938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72525"/>
                </a:solidFill>
                <a:latin typeface="Calibri"/>
              </a:rPr>
              <a:t>REST API </a:t>
            </a:r>
            <a:br>
              <a:rPr lang="en-US" sz="1300" dirty="0">
                <a:solidFill>
                  <a:srgbClr val="272525"/>
                </a:solidFill>
                <a:latin typeface="Calibri"/>
              </a:rPr>
            </a:br>
            <a:r>
              <a:rPr sz="1300" b="0">
                <a:solidFill>
                  <a:srgbClr val="272525"/>
                </a:solidFill>
                <a:latin typeface="Calibri"/>
              </a:rPr>
              <a:t>Owns project and </a:t>
            </a:r>
            <a:r>
              <a:rPr sz="1300" b="0" dirty="0">
                <a:solidFill>
                  <a:srgbClr val="272525"/>
                </a:solidFill>
                <a:latin typeface="Calibri"/>
              </a:rPr>
              <a:t>run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6002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174650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GPU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103120"/>
            <a:ext cx="1929384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Runs Detectree2 and DINOv2, one process per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7" y="1783080"/>
            <a:ext cx="6949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A5A6E"/>
                </a:solidFill>
                <a:latin typeface="Calibri"/>
              </a:rPr>
              <a:t>HTTPS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63239" y="2075688"/>
            <a:ext cx="365760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1783080"/>
            <a:ext cx="6949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A5A6E"/>
                </a:solidFill>
                <a:latin typeface="Calibri"/>
              </a:rPr>
              <a:t>REST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07024" y="2075688"/>
            <a:ext cx="365760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86216" y="1783080"/>
            <a:ext cx="6949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A5A6E"/>
                </a:solidFill>
                <a:latin typeface="Calibri"/>
              </a:rPr>
              <a:t>run job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50808" y="2075688"/>
            <a:ext cx="365760" cy="237744"/>
          </a:xfrm>
          <a:prstGeom prst="right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8368" y="36576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3768462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FileBrowser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815" y="4045334"/>
            <a:ext cx="1929384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>
                <a:solidFill>
                  <a:srgbClr val="272525"/>
                </a:solidFill>
                <a:latin typeface="Calibri"/>
              </a:rPr>
              <a:t>Read-only share link to a run's folder.</a:t>
            </a:r>
            <a:r>
              <a:rPr lang="en-US" sz="1300" dirty="0">
                <a:solidFill>
                  <a:srgbClr val="272525"/>
                </a:solidFill>
                <a:latin typeface="Calibri"/>
              </a:rPr>
              <a:t> User can view 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and download generated files</a:t>
            </a:r>
            <a:endParaRPr lang="en-US" sz="1300" b="0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17720" y="3657600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380390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Airflow / STACD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4160520"/>
            <a:ext cx="19293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72525"/>
                </a:solidFill>
                <a:latin typeface="Calibri"/>
              </a:rPr>
              <a:t>Schedule</a:t>
            </a:r>
            <a:r>
              <a:rPr sz="1300" b="0" dirty="0">
                <a:solidFill>
                  <a:srgbClr val="272525"/>
                </a:solidFill>
                <a:latin typeface="Calibri"/>
              </a:rPr>
              <a:t> runs</a:t>
            </a:r>
            <a:endParaRPr lang="en-US" sz="1300" b="0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8368" y="5303520"/>
            <a:ext cx="10863072" cy="731520"/>
          </a:xfrm>
          <a:prstGeom prst="roundRect">
            <a:avLst>
              <a:gd name="adj" fmla="val 12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396" y="5394959"/>
            <a:ext cx="1046073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3333B2"/>
                </a:solidFill>
                <a:latin typeface="Calibri"/>
              </a:rPr>
              <a:t>Storage </a:t>
            </a:r>
            <a:r>
              <a:rPr lang="en-US" sz="1400" b="1" dirty="0">
                <a:solidFill>
                  <a:srgbClr val="3333B2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272525"/>
                </a:solidFill>
                <a:latin typeface="Calibri"/>
              </a:rPr>
              <a:t>Database </a:t>
            </a:r>
            <a:r>
              <a:rPr sz="1400" b="0">
                <a:solidFill>
                  <a:srgbClr val="272525"/>
                </a:solidFill>
                <a:latin typeface="Calibri"/>
              </a:rPr>
              <a:t>for state, and one folder per run: orthomosaic, crown polygons, crown crops, clusters, exports, STAC item.</a:t>
            </a:r>
          </a:p>
        </p:txBody>
      </p:sp>
      <p:sp>
        <p:nvSpPr>
          <p:cNvPr id="32" name="Up-Down Arrow 31"/>
          <p:cNvSpPr/>
          <p:nvPr/>
        </p:nvSpPr>
        <p:spPr>
          <a:xfrm>
            <a:off x="1691640" y="2843784"/>
            <a:ext cx="237744" cy="758952"/>
          </a:xfrm>
          <a:prstGeom prst="up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11680" y="31089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share link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691640" y="4892040"/>
            <a:ext cx="237744" cy="365759"/>
          </a:xfrm>
          <a:prstGeom prst="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11680" y="495604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read-only</a:t>
            </a:r>
          </a:p>
        </p:txBody>
      </p:sp>
      <p:sp>
        <p:nvSpPr>
          <p:cNvPr id="36" name="Up-Down Arrow 35"/>
          <p:cNvSpPr/>
          <p:nvPr/>
        </p:nvSpPr>
        <p:spPr>
          <a:xfrm>
            <a:off x="6528816" y="2843784"/>
            <a:ext cx="237744" cy="758952"/>
          </a:xfrm>
          <a:prstGeom prst="up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280" y="30175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trigger a run</a:t>
            </a:r>
          </a:p>
          <a:p>
            <a:pPr algn="r"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callback /compute/*</a:t>
            </a:r>
          </a:p>
        </p:txBody>
      </p:sp>
      <p:sp>
        <p:nvSpPr>
          <p:cNvPr id="38" name="Up-Down Arrow 37"/>
          <p:cNvSpPr/>
          <p:nvPr/>
        </p:nvSpPr>
        <p:spPr>
          <a:xfrm>
            <a:off x="7863840" y="2843784"/>
            <a:ext cx="237744" cy="2404872"/>
          </a:xfrm>
          <a:prstGeom prst="up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3879" y="3931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state,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labels</a:t>
            </a:r>
          </a:p>
        </p:txBody>
      </p:sp>
      <p:sp>
        <p:nvSpPr>
          <p:cNvPr id="40" name="Up-Down Arrow 39"/>
          <p:cNvSpPr/>
          <p:nvPr/>
        </p:nvSpPr>
        <p:spPr>
          <a:xfrm>
            <a:off x="10241280" y="2843784"/>
            <a:ext cx="237744" cy="2404872"/>
          </a:xfrm>
          <a:prstGeom prst="upDownArrow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61320" y="3931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image in,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outputs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263640"/>
            <a:ext cx="1087221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72525"/>
                </a:solidFill>
                <a:latin typeface="Calibri"/>
              </a:rPr>
              <a:t>Deployed at </a:t>
            </a:r>
            <a:r>
              <a:rPr sz="1400" b="1">
                <a:solidFill>
                  <a:srgbClr val="3333B2"/>
                </a:solidFill>
                <a:latin typeface="Calibri"/>
                <a:hlinkClick r:id="rId2"/>
              </a:rPr>
              <a:t>www.cse.iitd.ernet.in/act4dws5/drone</a:t>
            </a:r>
            <a:endParaRPr sz="1400" b="1">
              <a:solidFill>
                <a:srgbClr val="3333B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3132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73623"/>
            <a:ext cx="1142390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The </a:t>
            </a:r>
            <a:r>
              <a:rPr lang="en-US" sz="2200">
                <a:solidFill>
                  <a:srgbClr val="FFFFFF"/>
                </a:solidFill>
                <a:latin typeface="Calibri"/>
              </a:rPr>
              <a:t>Crown Detector</a:t>
            </a:r>
            <a:endParaRPr lang="en-US" sz="220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52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72525"/>
                </a:solidFill>
                <a:latin typeface="Calibri"/>
              </a:rPr>
              <a:t>We run Detectree2, an open-source tree-crown detector.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03520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 Mask R-CNN instance segmentation, built on Meta’s detectron2.</a:t>
            </a:r>
            <a:endParaRPr lang="en-US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9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 Each tile returns a crown outline and a confidence score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9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 Published weights are used as they are</a:t>
            </a:r>
            <a:endParaRPr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Weights you can pick per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660" y="1965960"/>
            <a:ext cx="541303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urban_cambridge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Urban trees, Cambridge UK. Default.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8521" y="244258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paracou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Tropical canopy, </a:t>
            </a:r>
            <a:r>
              <a:rPr err="1">
                <a:solidFill>
                  <a:srgbClr val="272525"/>
                </a:solidFill>
                <a:latin typeface="Calibri"/>
              </a:rPr>
              <a:t>Paracou</a:t>
            </a:r>
            <a:r>
              <a:rPr>
                <a:solidFill>
                  <a:srgbClr val="272525"/>
                </a:solidFill>
                <a:latin typeface="Calibri"/>
              </a:rPr>
              <a:t> UAV.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9660" y="2963507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randresize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Random-resize full model.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8521" y="3431268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>
                <a:solidFill>
                  <a:srgbClr val="3333B2"/>
                </a:solidFill>
                <a:latin typeface="Calibri"/>
              </a:rPr>
              <a:t>flexi  </a:t>
            </a:r>
            <a:r>
              <a:rPr>
                <a:solidFill>
                  <a:srgbClr val="272525"/>
                </a:solidFill>
                <a:latin typeface="Calibri"/>
              </a:rPr>
              <a:t>Generalist: urban and closed canopy.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8521" y="3978774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tropical_closed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Dense tropical forest only.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4846320"/>
            <a:ext cx="1087526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dirty="0">
                <a:solidFill>
                  <a:srgbClr val="5F5C5C"/>
                </a:solidFill>
                <a:latin typeface="Calibri"/>
              </a:rPr>
              <a:t>The detector only finds crowns. </a:t>
            </a:r>
            <a:r>
              <a:rPr lang="en-US" dirty="0">
                <a:solidFill>
                  <a:srgbClr val="5F5C5C"/>
                </a:solidFill>
                <a:latin typeface="Calibri"/>
              </a:rPr>
              <a:t>User has to label the clusters according to their chosen value of k and final species map is generated as output.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Crown embedding: DINOv2</a:t>
            </a:r>
            <a:r>
              <a:rPr lang="en-US" sz="2200">
                <a:solidFill>
                  <a:srgbClr val="FFFFFF"/>
                </a:solidFill>
                <a:latin typeface="Calibri"/>
              </a:rPr>
              <a:t> </a:t>
            </a:r>
            <a:endParaRPr sz="22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6288" y="10688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33B2"/>
                </a:solidFill>
                <a:latin typeface="Calibri"/>
              </a:rPr>
              <a:t>From crown to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03520" cy="1918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 Each crown polygon is cut from the full-resolution </a:t>
            </a:r>
            <a:r>
              <a:rPr b="0" err="1">
                <a:solidFill>
                  <a:srgbClr val="272525"/>
                </a:solidFill>
                <a:latin typeface="Calibri"/>
              </a:rPr>
              <a:t>orthomosaic</a:t>
            </a:r>
            <a:r>
              <a:rPr lang="en-US">
                <a:solidFill>
                  <a:srgbClr val="272525"/>
                </a:solidFill>
                <a:latin typeface="Calibri"/>
              </a:rPr>
              <a:t>.</a:t>
            </a:r>
            <a:endParaRPr lang="en-US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</a:t>
            </a:r>
            <a:r>
              <a:rPr lang="en-US">
                <a:solidFill>
                  <a:srgbClr val="272525"/>
                </a:solidFill>
                <a:latin typeface="Calibri"/>
              </a:rPr>
              <a:t>Then DINOv2</a:t>
            </a:r>
            <a:r>
              <a:rPr b="0">
                <a:solidFill>
                  <a:srgbClr val="272525"/>
                </a:solidFill>
                <a:latin typeface="Calibri"/>
              </a:rPr>
              <a:t> vision transformer returns one embedding per crown.</a:t>
            </a:r>
            <a:endParaRPr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b="0">
                <a:solidFill>
                  <a:srgbClr val="272525"/>
                </a:solidFill>
                <a:latin typeface="Calibri"/>
              </a:rPr>
              <a:t>•  Embeddings are L2-normalised, </a:t>
            </a:r>
            <a:r>
              <a:rPr b="0" err="1">
                <a:solidFill>
                  <a:srgbClr val="272525"/>
                </a:solidFill>
                <a:latin typeface="Calibri"/>
              </a:rPr>
              <a:t>standardised</a:t>
            </a:r>
            <a:r>
              <a:rPr b="0">
                <a:solidFill>
                  <a:srgbClr val="272525"/>
                </a:solidFill>
                <a:latin typeface="Calibri"/>
              </a:rPr>
              <a:t>, then reduced with PCA to 50 components</a:t>
            </a:r>
            <a:r>
              <a:rPr lang="en-US">
                <a:solidFill>
                  <a:srgbClr val="272525"/>
                </a:solidFill>
                <a:latin typeface="Calibri"/>
              </a:rPr>
              <a:t>(configurable).</a:t>
            </a:r>
            <a:endParaRPr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06883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33B2"/>
                </a:solidFill>
                <a:latin typeface="Calibri"/>
              </a:rPr>
              <a:t>Backbones you can pick per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err="1">
                <a:solidFill>
                  <a:srgbClr val="3333B2"/>
                </a:solidFill>
                <a:latin typeface="Calibri"/>
              </a:rPr>
              <a:t>ViT</a:t>
            </a:r>
            <a:r>
              <a:rPr b="1">
                <a:solidFill>
                  <a:srgbClr val="3333B2"/>
                </a:solidFill>
                <a:latin typeface="Calibri"/>
              </a:rPr>
              <a:t>-S/14  </a:t>
            </a:r>
            <a:r>
              <a:rPr b="0">
                <a:solidFill>
                  <a:srgbClr val="272525"/>
                </a:solidFill>
                <a:latin typeface="Calibri"/>
              </a:rPr>
              <a:t>Fastest, smallest embeddings.</a:t>
            </a:r>
            <a:endParaRPr lang="en-US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487168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err="1">
                <a:solidFill>
                  <a:srgbClr val="3333B2"/>
                </a:solidFill>
                <a:latin typeface="Calibri"/>
              </a:rPr>
              <a:t>ViT</a:t>
            </a:r>
            <a:r>
              <a:rPr b="1">
                <a:solidFill>
                  <a:srgbClr val="3333B2"/>
                </a:solidFill>
                <a:latin typeface="Calibri"/>
              </a:rPr>
              <a:t>-B/14  </a:t>
            </a:r>
            <a:r>
              <a:rPr b="0">
                <a:solidFill>
                  <a:srgbClr val="272525"/>
                </a:solidFill>
                <a:latin typeface="Calibri"/>
              </a:rPr>
              <a:t>Balanced. Default.</a:t>
            </a:r>
            <a:endParaRPr lang="en-US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962656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b="1" err="1">
                <a:solidFill>
                  <a:srgbClr val="3333B2"/>
                </a:solidFill>
                <a:latin typeface="Calibri"/>
              </a:rPr>
              <a:t>ViT</a:t>
            </a:r>
            <a:r>
              <a:rPr b="1">
                <a:solidFill>
                  <a:srgbClr val="3333B2"/>
                </a:solidFill>
                <a:latin typeface="Calibri"/>
              </a:rPr>
              <a:t>-L/14  </a:t>
            </a:r>
            <a:r>
              <a:rPr b="0">
                <a:solidFill>
                  <a:srgbClr val="272525"/>
                </a:solidFill>
                <a:latin typeface="Calibri"/>
              </a:rPr>
              <a:t>Highest quality, slowest.</a:t>
            </a:r>
            <a:endParaRPr lang="en-US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Clustering and choosing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72525"/>
                </a:solidFill>
                <a:latin typeface="Calibri"/>
              </a:rPr>
              <a:t>Look-alike crowns are grouped with KMeans, once for every k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27632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KMeans for every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371246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72525"/>
                </a:solidFill>
                <a:latin typeface="Calibri"/>
              </a:rPr>
              <a:t>Default k list is 2, 4, 6, 8, 10. </a:t>
            </a:r>
            <a:endParaRPr lang="en-US" sz="1400" b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852928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99232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Three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355848"/>
            <a:ext cx="37124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272525"/>
                </a:solidFill>
                <a:latin typeface="Calibri"/>
              </a:rPr>
              <a:t>The</a:t>
            </a:r>
            <a:r>
              <a:rPr sz="1400" b="0">
                <a:solidFill>
                  <a:srgbClr val="272525"/>
                </a:solidFill>
                <a:latin typeface="Calibri"/>
              </a:rPr>
              <a:t> elbow</a:t>
            </a:r>
            <a:r>
              <a:rPr lang="en-US" sz="1400">
                <a:solidFill>
                  <a:srgbClr val="272525"/>
                </a:solidFill>
                <a:latin typeface="Calibri"/>
              </a:rPr>
              <a:t>,</a:t>
            </a:r>
            <a:r>
              <a:rPr sz="1400" b="0">
                <a:solidFill>
                  <a:srgbClr val="272525"/>
                </a:solidFill>
                <a:latin typeface="Calibri"/>
              </a:rPr>
              <a:t> silhouette and Davies-Bouldin are computed for every 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4114800" cy="123444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4370832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Suggested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27448"/>
            <a:ext cx="37124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272525"/>
                </a:solidFill>
                <a:latin typeface="Calibri"/>
              </a:rPr>
              <a:t>The</a:t>
            </a:r>
            <a:r>
              <a:rPr sz="1400" b="0">
                <a:solidFill>
                  <a:srgbClr val="272525"/>
                </a:solidFill>
                <a:latin typeface="Calibri"/>
              </a:rPr>
              <a:t> best k is suggested</a:t>
            </a:r>
            <a:r>
              <a:rPr lang="en-US" sz="1400">
                <a:solidFill>
                  <a:srgbClr val="272525"/>
                </a:solidFill>
                <a:latin typeface="Calibri"/>
              </a:rPr>
              <a:t>;</a:t>
            </a:r>
            <a:r>
              <a:rPr sz="1400" b="0">
                <a:solidFill>
                  <a:srgbClr val="272525"/>
                </a:solidFill>
                <a:latin typeface="Calibri"/>
              </a:rPr>
              <a:t> the user</a:t>
            </a:r>
            <a:r>
              <a:rPr lang="en-US" sz="1400">
                <a:solidFill>
                  <a:srgbClr val="272525"/>
                </a:solidFill>
                <a:latin typeface="Calibri"/>
              </a:rPr>
              <a:t> can choose any k of their choice after reviewing</a:t>
            </a:r>
            <a:r>
              <a:rPr sz="1400" b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6400800" cy="19855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20640" y="4225845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6E"/>
                </a:solidFill>
                <a:latin typeface="Calibri"/>
              </a:rPr>
              <a:t>The k-selection plot from a run. The red dashed line marks the suggested 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60720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For review, the app also shows the crowns nearest each group's centre and a t-SNE map of all crowns.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Naming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221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72525"/>
                </a:solidFill>
                <a:latin typeface="Calibri"/>
              </a:rPr>
              <a:t>Clustering only groups crowns. </a:t>
            </a:r>
            <a:r>
              <a:rPr lang="en-US">
                <a:solidFill>
                  <a:srgbClr val="272525"/>
                </a:solidFill>
                <a:latin typeface="Calibri"/>
              </a:rPr>
              <a:t>User supplies</a:t>
            </a:r>
            <a:r>
              <a:rPr sz="1800" b="0">
                <a:solidFill>
                  <a:srgbClr val="272525"/>
                </a:solidFill>
                <a:latin typeface="Calibri"/>
              </a:rPr>
              <a:t> the species names</a:t>
            </a:r>
            <a:r>
              <a:rPr lang="en-US">
                <a:solidFill>
                  <a:srgbClr val="272525"/>
                </a:solidFill>
                <a:latin typeface="Calibri"/>
              </a:rPr>
              <a:t> after reviewing the cropped crowns.</a:t>
            </a:r>
            <a:endParaRPr sz="1800" b="0">
              <a:solidFill>
                <a:srgbClr val="27252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>
                <a:solidFill>
                  <a:srgbClr val="3333B2"/>
                </a:solidFill>
                <a:latin typeface="Calibri"/>
              </a:rPr>
              <a:t>User names</a:t>
            </a:r>
            <a:r>
              <a:rPr sz="2000" b="1">
                <a:solidFill>
                  <a:srgbClr val="3333B2"/>
                </a:solidFill>
                <a:latin typeface="Calibri"/>
              </a:rPr>
              <a:t> each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8463280" cy="1492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en-US">
                <a:solidFill>
                  <a:srgbClr val="272525"/>
                </a:solidFill>
                <a:latin typeface="Calibri"/>
              </a:rPr>
              <a:t>•  The review page shows sample crowns for every group at the chosen k.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272525"/>
                </a:solidFill>
                <a:latin typeface="Calibri"/>
              </a:rPr>
              <a:t>•  The user types one species per group; every crown in the group inherits it.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272525"/>
                </a:solidFill>
                <a:latin typeface="Calibri"/>
              </a:rPr>
              <a:t>•  Two groups can be given the same species.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272525"/>
                </a:solidFill>
                <a:latin typeface="Calibri"/>
              </a:rPr>
              <a:t>•  Labels are stored per run, so an older run can still be finished later.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55448"/>
            <a:ext cx="114208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pic>
        <p:nvPicPr>
          <p:cNvPr id="5" name="Picture 4" descr="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05840"/>
            <a:ext cx="3781472" cy="4343400"/>
          </a:xfrm>
          <a:prstGeom prst="rect">
            <a:avLst/>
          </a:prstGeom>
        </p:spPr>
      </p:pic>
      <p:pic>
        <p:nvPicPr>
          <p:cNvPr id="6" name="Picture 5" descr="speci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160" y="1005840"/>
            <a:ext cx="464845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440679"/>
            <a:ext cx="37814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6E"/>
                </a:solidFill>
                <a:latin typeface="Calibri"/>
              </a:rPr>
              <a:t>1 · Detected crowns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4160" y="5440679"/>
            <a:ext cx="4648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6E"/>
                </a:solidFill>
                <a:latin typeface="Calibri"/>
              </a:rPr>
              <a:t>2 · Species map after labelling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655" y="1005840"/>
            <a:ext cx="1847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3333B2"/>
                </a:solidFill>
                <a:latin typeface="Calibri"/>
              </a:rPr>
              <a:t>782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82655" y="1664208"/>
            <a:ext cx="18479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tree crowns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2655" y="2240280"/>
            <a:ext cx="1847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3333B2"/>
                </a:solidFill>
                <a:latin typeface="Calibri"/>
              </a:rPr>
              <a:t>206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2655" y="2898648"/>
            <a:ext cx="184792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labelled 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acacia</a:t>
            </a:r>
            <a:r>
              <a:rPr sz="1300" b="0">
                <a:solidFill>
                  <a:srgbClr val="272525"/>
                </a:solidFill>
                <a:latin typeface="Calibri"/>
              </a:rPr>
              <a:t> (26%)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2655" y="3474720"/>
            <a:ext cx="1847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3333B2"/>
                </a:solidFill>
                <a:latin typeface="Calibri"/>
              </a:rPr>
              <a:t>576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2655" y="4133088"/>
            <a:ext cx="184792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72525"/>
                </a:solidFill>
                <a:latin typeface="Calibri"/>
              </a:rPr>
              <a:t>labelled </a:t>
            </a:r>
            <a:r>
              <a:rPr lang="en-US" sz="1300">
                <a:solidFill>
                  <a:srgbClr val="272525"/>
                </a:solidFill>
                <a:latin typeface="Calibri"/>
              </a:rPr>
              <a:t>non-acacia</a:t>
            </a:r>
            <a:r>
              <a:rPr sz="1300" b="0">
                <a:solidFill>
                  <a:srgbClr val="272525"/>
                </a:solidFill>
                <a:latin typeface="Calibri"/>
              </a:rPr>
              <a:t> (74%)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2655" y="4754880"/>
            <a:ext cx="184792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One orthomosaic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A5A6E"/>
                </a:solidFill>
                <a:latin typeface="Calibri"/>
              </a:rPr>
              <a:t>2 cm/px, k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87221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72525"/>
                </a:solidFill>
                <a:latin typeface="Calibri"/>
              </a:rPr>
              <a:t>Detectree2 (urban_cambridge) and DINOv2 ViT-B/14. Species come from </a:t>
            </a:r>
            <a:r>
              <a:rPr lang="en-US" sz="1400">
                <a:solidFill>
                  <a:srgbClr val="272525"/>
                </a:solidFill>
                <a:latin typeface="Calibri"/>
              </a:rPr>
              <a:t>user-named</a:t>
            </a:r>
            <a:r>
              <a:rPr sz="1400" b="0">
                <a:solidFill>
                  <a:srgbClr val="272525"/>
                </a:solidFill>
                <a:latin typeface="Calibri"/>
              </a:rPr>
              <a:t> clusters and are not yet checked against ground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Species map (KMZ)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Opens in Google Earth or any GIS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4794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CSV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Every crown with its species, ready for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1220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STAC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1220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So the dataset can be catalogued and found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1480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FileBrowser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9884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A shareable link to every file of the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4794" y="411480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Every run is kept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4794" y="449884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Compare settings and finish any run later.</a:t>
            </a:r>
          </a:p>
        </p:txBody>
      </p:sp>
      <p:pic>
        <p:nvPicPr>
          <p:cNvPr id="19" name="Picture 18" descr="result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220" y="3582782"/>
            <a:ext cx="3442106" cy="161267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173623"/>
            <a:ext cx="1142390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What you get</a:t>
            </a:r>
            <a:r>
              <a:rPr lang="en-US" sz="2200" b="0">
                <a:solidFill>
                  <a:srgbClr val="FFFFFF"/>
                </a:solidFill>
                <a:latin typeface="Calibri"/>
              </a:rPr>
              <a:t> as Final Output</a:t>
            </a:r>
            <a:endParaRPr sz="22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5FDF58-9709-4B9A-A4F7-B0D453F24D5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d7b7794-4f7d-452a-a08a-225165fc08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Susmit Mahato</cp:lastModifiedBy>
  <cp:revision>61</cp:revision>
  <dcterms:created xsi:type="dcterms:W3CDTF">2013-01-27T09:14:16Z</dcterms:created>
  <dcterms:modified xsi:type="dcterms:W3CDTF">2026-10-13T14:28:23Z</dcterms:modified>
  <cp:category/>
</cp:coreProperties>
</file>
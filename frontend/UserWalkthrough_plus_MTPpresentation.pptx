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72" r:id="rId6"/>
    <p:sldId id="273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5" r:id="rId16"/>
    <p:sldId id="276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2C4F4D-FE49-2F6D-8CCE-02F4249BD86E}" v="2" dt="2026-09-29T10:39:21.878"/>
    <p1510:client id="{DBC28448-7D73-1B2F-D691-77FC109A7585}" v="2" dt="2026-09-29T06:32:26.923"/>
    <p1510:client id="{EE794469-CAC1-6CF3-4EFB-472C5364CE3B}" v="1" dt="2026-09-29T06:15:30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32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5840" y="1051560"/>
            <a:ext cx="10180320" cy="1600200"/>
          </a:xfrm>
          <a:prstGeom prst="roundRect">
            <a:avLst>
              <a:gd name="adj" fmla="val 800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1637915"/>
            <a:ext cx="9631680" cy="4274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2400" b="0" dirty="0">
                <a:solidFill>
                  <a:srgbClr val="FFFFFF"/>
                </a:solidFill>
                <a:latin typeface="Calibri"/>
              </a:rPr>
              <a:t>Drone Imagery Analysis</a:t>
            </a:r>
            <a:endParaRPr lang="en-US" sz="2400" b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3246120"/>
            <a:ext cx="1087221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272525"/>
                </a:solidFill>
                <a:latin typeface="Calibri"/>
              </a:rPr>
              <a:t>Susmit Mahato</a:t>
            </a:r>
            <a:endParaRPr lang="en-US" sz="2400" b="1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3977639"/>
            <a:ext cx="10872216" cy="78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latin typeface="Calibri"/>
              </a:rPr>
              <a:t>Supervisor: Prof. </a:t>
            </a:r>
            <a:r>
              <a:rPr sz="2400" b="1" err="1">
                <a:latin typeface="Calibri"/>
              </a:rPr>
              <a:t>Aaditeshwar</a:t>
            </a:r>
            <a:r>
              <a:rPr sz="2400" b="1">
                <a:latin typeface="Calibri"/>
              </a:rPr>
              <a:t> Seth</a:t>
            </a:r>
            <a:endParaRPr lang="en-US" sz="2400" b="1">
              <a:latin typeface="Calibri"/>
              <a:ea typeface="Calibri"/>
              <a:cs typeface="Calibri"/>
            </a:endParaRPr>
          </a:p>
          <a:p>
            <a:pPr algn="ctr">
              <a:spcAft>
                <a:spcPts val="400"/>
              </a:spcAft>
            </a:pPr>
            <a:r>
              <a:rPr sz="2400" b="0">
                <a:latin typeface="Calibri"/>
              </a:rPr>
              <a:t>IIT Delhi</a:t>
            </a:r>
            <a:endParaRPr sz="2400" b="0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88F9F5-5B57-A16A-DAD3-1A0EF2B0A357}"/>
              </a:ext>
            </a:extLst>
          </p:cNvPr>
          <p:cNvSpPr txBox="1"/>
          <p:nvPr/>
        </p:nvSpPr>
        <p:spPr>
          <a:xfrm>
            <a:off x="658368" y="5257800"/>
            <a:ext cx="1087221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b="1" dirty="0">
                <a:solidFill>
                  <a:srgbClr val="5A5A6E"/>
                </a:solidFill>
                <a:latin typeface="Calibri"/>
              </a:rPr>
              <a:t>11</a:t>
            </a:r>
            <a:r>
              <a:rPr lang="en-US" sz="1800" b="1" dirty="0">
                <a:solidFill>
                  <a:srgbClr val="5A5A6E"/>
                </a:solidFill>
                <a:latin typeface="Calibri"/>
              </a:rPr>
              <a:t>th October 2026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377" y="28755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1142390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1143000" y="1097280"/>
            <a:ext cx="274320" cy="27432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1078992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3333B2"/>
                </a:solidFill>
                <a:latin typeface="Calibri"/>
              </a:rPr>
              <a:t>What it does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1499616"/>
            <a:ext cx="274320" cy="27432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148132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3333B2"/>
                </a:solidFill>
                <a:latin typeface="Calibri"/>
              </a:rPr>
              <a:t>How it works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1901952"/>
            <a:ext cx="274320" cy="27432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1883664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rgbClr val="3333B2"/>
                </a:solidFill>
                <a:latin typeface="Calibri"/>
              </a:rPr>
              <a:t>The crown detector: Detectree2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2304288"/>
            <a:ext cx="274320" cy="27432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28600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0" dirty="0">
                <a:solidFill>
                  <a:srgbClr val="3333B2"/>
                </a:solidFill>
                <a:latin typeface="Calibri"/>
              </a:rPr>
              <a:t>Detector engineering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2706624"/>
            <a:ext cx="274320" cy="27432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2688336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3333B2"/>
                </a:solidFill>
                <a:latin typeface="Calibri"/>
              </a:rPr>
              <a:t>Which orthomosaics work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3108960"/>
            <a:ext cx="274320" cy="27432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3090672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3333B2"/>
                </a:solidFill>
                <a:latin typeface="Calibri"/>
              </a:rPr>
              <a:t>Walkthrough video</a:t>
            </a:r>
          </a:p>
        </p:txBody>
      </p:sp>
      <p:sp>
        <p:nvSpPr>
          <p:cNvPr id="17" name="Oval 16"/>
          <p:cNvSpPr/>
          <p:nvPr/>
        </p:nvSpPr>
        <p:spPr>
          <a:xfrm>
            <a:off x="1143000" y="3511296"/>
            <a:ext cx="274320" cy="27432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349300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3333B2"/>
                </a:solidFill>
                <a:latin typeface="Calibri"/>
              </a:rPr>
              <a:t>Reading the charts and the crown map</a:t>
            </a:r>
          </a:p>
        </p:txBody>
      </p:sp>
      <p:sp>
        <p:nvSpPr>
          <p:cNvPr id="19" name="Oval 18"/>
          <p:cNvSpPr/>
          <p:nvPr/>
        </p:nvSpPr>
        <p:spPr>
          <a:xfrm>
            <a:off x="1143000" y="3913632"/>
            <a:ext cx="274320" cy="27432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3895344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3333B2"/>
                </a:solidFill>
                <a:latin typeface="Calibri"/>
              </a:rPr>
              <a:t>Checking the detections</a:t>
            </a:r>
          </a:p>
        </p:txBody>
      </p:sp>
      <p:sp>
        <p:nvSpPr>
          <p:cNvPr id="21" name="Oval 20"/>
          <p:cNvSpPr/>
          <p:nvPr/>
        </p:nvSpPr>
        <p:spPr>
          <a:xfrm>
            <a:off x="1143000" y="4315968"/>
            <a:ext cx="274320" cy="27432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429768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3333B2"/>
                </a:solidFill>
                <a:latin typeface="Calibri"/>
              </a:rPr>
              <a:t>Poor results? Use the Guide</a:t>
            </a:r>
          </a:p>
        </p:txBody>
      </p:sp>
      <p:sp>
        <p:nvSpPr>
          <p:cNvPr id="23" name="Oval 22"/>
          <p:cNvSpPr/>
          <p:nvPr/>
        </p:nvSpPr>
        <p:spPr>
          <a:xfrm>
            <a:off x="1143000" y="4718304"/>
            <a:ext cx="274320" cy="27432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4700016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3333B2"/>
                </a:solidFill>
                <a:latin typeface="Calibri"/>
              </a:rPr>
              <a:t>Better settings, far more trees</a:t>
            </a:r>
          </a:p>
        </p:txBody>
      </p:sp>
      <p:sp>
        <p:nvSpPr>
          <p:cNvPr id="25" name="Oval 24"/>
          <p:cNvSpPr/>
          <p:nvPr/>
        </p:nvSpPr>
        <p:spPr>
          <a:xfrm>
            <a:off x="1143000" y="5120640"/>
            <a:ext cx="274320" cy="27432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7632" y="5102352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3333B2"/>
                </a:solidFill>
                <a:latin typeface="Calibri"/>
              </a:rPr>
              <a:t>What you get</a:t>
            </a:r>
          </a:p>
        </p:txBody>
      </p:sp>
      <p:sp>
        <p:nvSpPr>
          <p:cNvPr id="27" name="Oval 26"/>
          <p:cNvSpPr/>
          <p:nvPr/>
        </p:nvSpPr>
        <p:spPr>
          <a:xfrm>
            <a:off x="1143000" y="5522976"/>
            <a:ext cx="274320" cy="274320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27632" y="550468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3333B2"/>
                </a:solidFill>
                <a:latin typeface="Calibri"/>
              </a:rPr>
              <a:t>Your files in FileBrowser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1380744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1325880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Upload a drone orthomosaic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1673352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One big stitched aerial photo of your site.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313432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5" y="2258568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Our model finds the tree crowns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5" y="260604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It outlines every crown it can see in the image.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246120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5" y="3191256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Similar crowns are grouped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" y="3538728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You get sample pictures of each group to look at.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178807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5" y="4123944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You name each group 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5" y="4471416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Every tree in that group gets the species you typed.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111495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5" y="5056631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Download your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5" y="5404103"/>
            <a:ext cx="10424160" cy="253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A species map, </a:t>
            </a:r>
            <a:r>
              <a:rPr lang="en-US" sz="1600" b="0">
                <a:solidFill>
                  <a:srgbClr val="5F5C5C"/>
                </a:solidFill>
                <a:latin typeface="Calibri"/>
              </a:rPr>
              <a:t>csv table summary</a:t>
            </a:r>
            <a:r>
              <a:rPr sz="1600" b="0">
                <a:solidFill>
                  <a:srgbClr val="5F5C5C"/>
                </a:solidFill>
                <a:latin typeface="Calibri"/>
              </a:rPr>
              <a:t> and a </a:t>
            </a:r>
            <a:r>
              <a:rPr lang="en-US" sz="1600">
                <a:solidFill>
                  <a:srgbClr val="5F5C5C"/>
                </a:solidFill>
                <a:latin typeface="Calibri"/>
              </a:rPr>
              <a:t>stack item</a:t>
            </a:r>
            <a:r>
              <a:rPr sz="1600" b="0">
                <a:solidFill>
                  <a:srgbClr val="5F5C5C"/>
                </a:solidFill>
                <a:latin typeface="Calibri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45720"/>
            <a:ext cx="1142390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377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1234440"/>
            <a:ext cx="1955535" cy="242316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1453896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984248"/>
            <a:ext cx="15531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386584"/>
            <a:ext cx="155319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A GeoTIFF orthomosaic of your site.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8223" y="1234440"/>
            <a:ext cx="1955535" cy="242316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3089391" y="1453896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9391" y="1984248"/>
            <a:ext cx="15531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9391" y="2386584"/>
            <a:ext cx="155319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Our model outlines every tree crown.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18079" y="1234440"/>
            <a:ext cx="1955535" cy="242316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5319247" y="1453896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9247" y="1984248"/>
            <a:ext cx="15531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9247" y="2386584"/>
            <a:ext cx="155319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Look-alike crowns are grouped together.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7935" y="1234440"/>
            <a:ext cx="1955535" cy="242316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7549103" y="1453896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9103" y="1984248"/>
            <a:ext cx="15531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9103" y="2386584"/>
            <a:ext cx="155319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You type a species for each group.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77791" y="1234440"/>
            <a:ext cx="1955535" cy="242316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9778959" y="1453896"/>
            <a:ext cx="384048" cy="384048"/>
          </a:xfrm>
          <a:prstGeom prst="ellipse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8959" y="1984248"/>
            <a:ext cx="155319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8959" y="2386584"/>
            <a:ext cx="155319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Map, tables and metadata to download.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069080"/>
            <a:ext cx="108749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>
                <a:solidFill>
                  <a:srgbClr val="5F5C5C"/>
                </a:solidFill>
                <a:latin typeface="Calibri"/>
              </a:rPr>
              <a:t>Everything is saved per run, so you can change the settings and try again whenever you like.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45720"/>
            <a:ext cx="1142390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3132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73623"/>
            <a:ext cx="11423904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dirty="0">
                <a:solidFill>
                  <a:srgbClr val="FFFFFF"/>
                </a:solidFill>
                <a:latin typeface="Calibri"/>
              </a:rPr>
              <a:t>Detectree2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7526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272525"/>
                </a:solidFill>
                <a:latin typeface="Calibri"/>
              </a:rPr>
              <a:t>We run Detectree2, an open-source tree-crown detector.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333B2"/>
                </a:solidFill>
                <a:latin typeface="Calibri"/>
              </a:rPr>
              <a:t>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5303520" cy="1615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b="0" dirty="0">
                <a:solidFill>
                  <a:srgbClr val="272525"/>
                </a:solidFill>
                <a:latin typeface="Calibri"/>
              </a:rPr>
              <a:t>•  Mask R-CNN instance segmentation, built on Meta’s detectron2.</a:t>
            </a:r>
            <a:endParaRPr lang="en-US" b="0" dirty="0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900"/>
              </a:spcAft>
            </a:pPr>
            <a:r>
              <a:rPr lang="en-US" b="0">
                <a:solidFill>
                  <a:srgbClr val="272525"/>
                </a:solidFill>
                <a:latin typeface="Calibri"/>
              </a:rPr>
              <a:t>•  Each tile returns crown outlines, each with a confidence score.</a:t>
            </a:r>
            <a:endParaRPr lang="en-US" dirty="0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900"/>
              </a:spcAft>
            </a:pPr>
            <a:r>
              <a:rPr b="0" dirty="0">
                <a:solidFill>
                  <a:srgbClr val="272525"/>
                </a:solidFill>
                <a:latin typeface="Calibri"/>
              </a:rPr>
              <a:t>•  Published weights are used as they are</a:t>
            </a:r>
            <a:r>
              <a:rPr lang="en-US" b="0" dirty="0">
                <a:solidFill>
                  <a:srgbClr val="272525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333B2"/>
                </a:solidFill>
                <a:latin typeface="Calibri"/>
              </a:rPr>
              <a:t>Weights you can pick per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9660" y="1965960"/>
            <a:ext cx="541303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err="1">
                <a:solidFill>
                  <a:srgbClr val="3333B2"/>
                </a:solidFill>
                <a:latin typeface="Calibri"/>
              </a:rPr>
              <a:t>urban_cambridge</a:t>
            </a:r>
            <a:r>
              <a:rPr b="1">
                <a:solidFill>
                  <a:srgbClr val="3333B2"/>
                </a:solidFill>
                <a:latin typeface="Calibri"/>
              </a:rPr>
              <a:t>  </a:t>
            </a:r>
            <a:r>
              <a:rPr>
                <a:solidFill>
                  <a:srgbClr val="272525"/>
                </a:solidFill>
                <a:latin typeface="Calibri"/>
              </a:rPr>
              <a:t>Urban trees, Cambridge UK. Default.</a:t>
            </a:r>
            <a:endParaRPr lang="en-US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18521" y="2442582"/>
            <a:ext cx="512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err="1">
                <a:solidFill>
                  <a:srgbClr val="3333B2"/>
                </a:solidFill>
                <a:latin typeface="Calibri"/>
              </a:rPr>
              <a:t>paracou</a:t>
            </a:r>
            <a:r>
              <a:rPr b="1">
                <a:solidFill>
                  <a:srgbClr val="3333B2"/>
                </a:solidFill>
                <a:latin typeface="Calibri"/>
              </a:rPr>
              <a:t>  </a:t>
            </a:r>
            <a:r>
              <a:rPr>
                <a:solidFill>
                  <a:srgbClr val="272525"/>
                </a:solidFill>
                <a:latin typeface="Calibri"/>
              </a:rPr>
              <a:t>Tropical canopy, </a:t>
            </a:r>
            <a:r>
              <a:rPr err="1">
                <a:solidFill>
                  <a:srgbClr val="272525"/>
                </a:solidFill>
                <a:latin typeface="Calibri"/>
              </a:rPr>
              <a:t>Paracou</a:t>
            </a:r>
            <a:r>
              <a:rPr>
                <a:solidFill>
                  <a:srgbClr val="272525"/>
                </a:solidFill>
                <a:latin typeface="Calibri"/>
              </a:rPr>
              <a:t> UAV.</a:t>
            </a:r>
            <a:endParaRPr lang="en-US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9660" y="2963507"/>
            <a:ext cx="512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err="1">
                <a:solidFill>
                  <a:srgbClr val="3333B2"/>
                </a:solidFill>
                <a:latin typeface="Calibri"/>
              </a:rPr>
              <a:t>randresize</a:t>
            </a:r>
            <a:r>
              <a:rPr b="1">
                <a:solidFill>
                  <a:srgbClr val="3333B2"/>
                </a:solidFill>
                <a:latin typeface="Calibri"/>
              </a:rPr>
              <a:t>  </a:t>
            </a:r>
            <a:r>
              <a:rPr>
                <a:solidFill>
                  <a:srgbClr val="272525"/>
                </a:solidFill>
                <a:latin typeface="Calibri"/>
              </a:rPr>
              <a:t>Random-resize full model.</a:t>
            </a:r>
            <a:endParaRPr lang="en-US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8521" y="3431268"/>
            <a:ext cx="512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>
                <a:solidFill>
                  <a:srgbClr val="3333B2"/>
                </a:solidFill>
                <a:latin typeface="Calibri"/>
              </a:rPr>
              <a:t>flexi  </a:t>
            </a:r>
            <a:r>
              <a:rPr>
                <a:solidFill>
                  <a:srgbClr val="272525"/>
                </a:solidFill>
                <a:latin typeface="Calibri"/>
              </a:rPr>
              <a:t>Generalist: urban and closed canopy.</a:t>
            </a:r>
            <a:endParaRPr lang="en-US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18521" y="3978774"/>
            <a:ext cx="5120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1" err="1">
                <a:solidFill>
                  <a:srgbClr val="3333B2"/>
                </a:solidFill>
                <a:latin typeface="Calibri"/>
              </a:rPr>
              <a:t>tropical_closed</a:t>
            </a:r>
            <a:r>
              <a:rPr b="1">
                <a:solidFill>
                  <a:srgbClr val="3333B2"/>
                </a:solidFill>
                <a:latin typeface="Calibri"/>
              </a:rPr>
              <a:t>  </a:t>
            </a:r>
            <a:r>
              <a:rPr>
                <a:solidFill>
                  <a:srgbClr val="272525"/>
                </a:solidFill>
                <a:latin typeface="Calibri"/>
              </a:rPr>
              <a:t>Dense tropical forest only.</a:t>
            </a:r>
            <a:endParaRPr lang="en-US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4846320"/>
            <a:ext cx="1087526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0">
                <a:solidFill>
                  <a:srgbClr val="5F5C5C"/>
                </a:solidFill>
                <a:latin typeface="Calibri"/>
              </a:rPr>
              <a:t>The detector only finds crowns. The crowns are then grouped, the user names the species of each group, and the final species map is generated.</a:t>
            </a:r>
            <a:endParaRPr sz="1800" b="0" dirty="0">
              <a:solidFill>
                <a:srgbClr val="5F5C5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73623"/>
            <a:ext cx="11423904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200" b="0" dirty="0">
                <a:solidFill>
                  <a:srgbClr val="FFFFFF"/>
                </a:solidFill>
                <a:latin typeface="Calibri"/>
              </a:rPr>
              <a:t>Detector Engineering</a:t>
            </a:r>
            <a:endParaRPr sz="22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752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272525"/>
                </a:solidFill>
                <a:latin typeface="Calibri"/>
              </a:rPr>
              <a:t>The detector was trained at one ground resolution, so every survey is brought to it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333B2"/>
                </a:solidFill>
                <a:latin typeface="Calibri"/>
              </a:rPr>
              <a:t>One resolution for every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530352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lang="en-US" sz="1600" b="0" dirty="0">
                <a:solidFill>
                  <a:srgbClr val="272525"/>
                </a:solidFill>
                <a:latin typeface="Calibri"/>
              </a:rPr>
              <a:t>•  Surveys finer than 6.7 cm/</a:t>
            </a:r>
            <a:r>
              <a:rPr lang="en-US" sz="1600" b="0" dirty="0" err="1">
                <a:solidFill>
                  <a:srgbClr val="272525"/>
                </a:solidFill>
                <a:latin typeface="Calibri"/>
              </a:rPr>
              <a:t>px</a:t>
            </a:r>
            <a:r>
              <a:rPr lang="en-US" sz="1600" b="0" dirty="0">
                <a:solidFill>
                  <a:srgbClr val="272525"/>
                </a:solidFill>
                <a:latin typeface="Calibri"/>
              </a:rPr>
              <a:t> are </a:t>
            </a:r>
            <a:r>
              <a:rPr lang="en-US" sz="1600" b="0" dirty="0" err="1">
                <a:solidFill>
                  <a:srgbClr val="272525"/>
                </a:solidFill>
                <a:latin typeface="Calibri"/>
              </a:rPr>
              <a:t>downsampled</a:t>
            </a:r>
            <a:r>
              <a:rPr lang="en-US" sz="1600" b="0" dirty="0">
                <a:solidFill>
                  <a:srgbClr val="272525"/>
                </a:solidFill>
                <a:latin typeface="Calibri"/>
              </a:rPr>
              <a:t> to it, the resolution the model works best at. Coarser surveys are left as they are.</a:t>
            </a:r>
            <a:endParaRPr sz="1600" b="0" dirty="0">
              <a:solidFill>
                <a:srgbClr val="272525"/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600" b="0" dirty="0">
                <a:solidFill>
                  <a:srgbClr val="272525"/>
                </a:solidFill>
                <a:latin typeface="Calibri"/>
              </a:rPr>
              <a:t>•  Native GSD is read from the </a:t>
            </a:r>
            <a:r>
              <a:rPr lang="en-US" sz="1600" b="0" dirty="0" err="1">
                <a:solidFill>
                  <a:srgbClr val="272525"/>
                </a:solidFill>
                <a:latin typeface="Calibri"/>
              </a:rPr>
              <a:t>GeoTIFF’s</a:t>
            </a:r>
            <a:r>
              <a:rPr sz="1600" b="0" dirty="0">
                <a:solidFill>
                  <a:srgbClr val="272525"/>
                </a:solidFill>
                <a:latin typeface="Calibri"/>
              </a:rPr>
              <a:t> </a:t>
            </a:r>
            <a:r>
              <a:rPr lang="en-US" sz="1600" b="0" dirty="0">
                <a:solidFill>
                  <a:srgbClr val="272525"/>
                </a:solidFill>
                <a:latin typeface="Calibri"/>
              </a:rPr>
              <a:t>metadata</a:t>
            </a:r>
            <a:r>
              <a:rPr lang="en-US" sz="1600" dirty="0">
                <a:solidFill>
                  <a:srgbClr val="272525"/>
                </a:solidFill>
                <a:latin typeface="Calibri"/>
              </a:rPr>
              <a:t>.</a:t>
            </a:r>
            <a:endParaRPr sz="1600" b="0" dirty="0">
              <a:solidFill>
                <a:srgbClr val="272525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333B2"/>
                </a:solidFill>
                <a:latin typeface="Calibri"/>
              </a:rPr>
              <a:t>Tiles the network can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5120640" cy="1461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dirty="0">
                <a:solidFill>
                  <a:srgbClr val="272525"/>
                </a:solidFill>
                <a:latin typeface="Calibri"/>
              </a:rPr>
              <a:t>•  The ortho is cut into </a:t>
            </a:r>
            <a:r>
              <a:rPr sz="1600" b="0" dirty="0" err="1">
                <a:solidFill>
                  <a:srgbClr val="272525"/>
                </a:solidFill>
                <a:latin typeface="Calibri"/>
              </a:rPr>
              <a:t>tile_size</a:t>
            </a:r>
            <a:r>
              <a:rPr sz="1600" b="0" dirty="0">
                <a:solidFill>
                  <a:srgbClr val="27252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72525"/>
                </a:solidFill>
                <a:latin typeface="Calibri"/>
              </a:rPr>
              <a:t>metre</a:t>
            </a:r>
            <a:r>
              <a:rPr sz="1600" b="0" dirty="0">
                <a:solidFill>
                  <a:srgbClr val="272525"/>
                </a:solidFill>
                <a:latin typeface="Calibri"/>
              </a:rPr>
              <a:t> tiles with a buffer </a:t>
            </a:r>
            <a:r>
              <a:rPr sz="1600" b="0" dirty="0" err="1">
                <a:solidFill>
                  <a:srgbClr val="272525"/>
                </a:solidFill>
                <a:latin typeface="Calibri"/>
              </a:rPr>
              <a:t>metre</a:t>
            </a:r>
            <a:r>
              <a:rPr sz="1600" b="0" dirty="0">
                <a:solidFill>
                  <a:srgbClr val="272525"/>
                </a:solidFill>
                <a:latin typeface="Calibri"/>
              </a:rPr>
              <a:t> overlap.</a:t>
            </a:r>
          </a:p>
          <a:p>
            <a:pPr>
              <a:spcAft>
                <a:spcPts val="900"/>
              </a:spcAft>
            </a:pPr>
            <a:r>
              <a:rPr sz="1600" b="0" dirty="0">
                <a:solidFill>
                  <a:srgbClr val="272525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272525"/>
                </a:solidFill>
                <a:latin typeface="Calibri"/>
              </a:rPr>
              <a:t>detections_per_image</a:t>
            </a:r>
            <a:r>
              <a:rPr sz="1600" b="0" dirty="0">
                <a:solidFill>
                  <a:srgbClr val="272525"/>
                </a:solidFill>
                <a:latin typeface="Calibri"/>
              </a:rPr>
              <a:t> = 6 caps crowns per tile</a:t>
            </a:r>
            <a:r>
              <a:rPr lang="en-US" sz="1600" dirty="0">
                <a:solidFill>
                  <a:srgbClr val="272525"/>
                </a:solidFill>
                <a:latin typeface="Calibri"/>
              </a:rPr>
              <a:t> </a:t>
            </a:r>
            <a:r>
              <a:rPr sz="1600" b="0" dirty="0">
                <a:solidFill>
                  <a:srgbClr val="272525"/>
                </a:solidFill>
                <a:latin typeface="Calibri"/>
              </a:rPr>
              <a:t>and extras are dropped</a:t>
            </a:r>
            <a:r>
              <a:rPr lang="en-US" sz="1600" dirty="0">
                <a:solidFill>
                  <a:srgbClr val="272525"/>
                </a:solidFill>
                <a:latin typeface="Calibri"/>
              </a:rPr>
              <a:t>.</a:t>
            </a:r>
            <a:endParaRPr sz="1600" b="0" dirty="0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900"/>
              </a:spcAft>
            </a:pPr>
            <a:r>
              <a:rPr lang="en-US" sz="1600" b="0">
                <a:solidFill>
                  <a:srgbClr val="272525"/>
                </a:solidFill>
                <a:latin typeface="Calibri"/>
              </a:rPr>
              <a:t>•  conf_threshold is 0.85 by default.</a:t>
            </a:r>
            <a:endParaRPr sz="1600" b="0" dirty="0">
              <a:solidFill>
                <a:srgbClr val="27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21BD15-0C87-B3FB-303B-143AE278A196}"/>
              </a:ext>
            </a:extLst>
          </p:cNvPr>
          <p:cNvSpPr txBox="1"/>
          <p:nvPr/>
        </p:nvSpPr>
        <p:spPr>
          <a:xfrm>
            <a:off x="660400" y="3962400"/>
            <a:ext cx="1087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>
                <a:solidFill>
                  <a:srgbClr val="3333B2"/>
                </a:solidFill>
                <a:latin typeface="Calibri"/>
              </a:rPr>
              <a:t>Back to one map</a:t>
            </a:r>
            <a:endParaRPr sz="2000" b="1">
              <a:solidFill>
                <a:srgbClr val="3333B2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A44C45-950C-B76D-8BC5-DF454BD33416}"/>
              </a:ext>
            </a:extLst>
          </p:cNvPr>
          <p:cNvSpPr txBox="1"/>
          <p:nvPr/>
        </p:nvSpPr>
        <p:spPr>
          <a:xfrm>
            <a:off x="660400" y="4394200"/>
            <a:ext cx="10871200" cy="96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lang="en-US" sz="1600" b="0" dirty="0">
                <a:solidFill>
                  <a:srgbClr val="272525"/>
                </a:solidFill>
                <a:latin typeface="Calibri"/>
              </a:rPr>
              <a:t>•  Tile results are stitched into one crown layer in the </a:t>
            </a:r>
            <a:r>
              <a:rPr lang="en-US" sz="1600" b="0" dirty="0" err="1">
                <a:solidFill>
                  <a:srgbClr val="272525"/>
                </a:solidFill>
                <a:latin typeface="Calibri"/>
              </a:rPr>
              <a:t>orthomosaic’s</a:t>
            </a:r>
            <a:r>
              <a:rPr lang="en-US" sz="1600" b="0" dirty="0">
                <a:solidFill>
                  <a:srgbClr val="272525"/>
                </a:solidFill>
                <a:latin typeface="Calibri"/>
              </a:rPr>
              <a:t> own coordinates.</a:t>
            </a:r>
            <a:endParaRPr sz="1600" b="0" dirty="0">
              <a:solidFill>
                <a:srgbClr val="272525"/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lang="en-US" sz="1600" b="0" dirty="0">
                <a:solidFill>
                  <a:srgbClr val="272525"/>
                </a:solidFill>
                <a:latin typeface="Calibri"/>
              </a:rPr>
              <a:t>•  Duplicates from the tile overlap are removed (</a:t>
            </a:r>
            <a:r>
              <a:rPr lang="en-US" sz="1600" b="0" dirty="0" err="1">
                <a:solidFill>
                  <a:srgbClr val="272525"/>
                </a:solidFill>
                <a:latin typeface="Calibri"/>
              </a:rPr>
              <a:t>IoU</a:t>
            </a:r>
            <a:r>
              <a:rPr lang="en-US" sz="1600" b="0" dirty="0">
                <a:solidFill>
                  <a:srgbClr val="272525"/>
                </a:solidFill>
                <a:latin typeface="Calibri"/>
              </a:rPr>
              <a:t> 0.9).</a:t>
            </a:r>
          </a:p>
          <a:p>
            <a:pPr algn="l">
              <a:spcAft>
                <a:spcPts val="900"/>
              </a:spcAft>
            </a:pPr>
            <a:r>
              <a:rPr lang="en-US" sz="1600" b="0" dirty="0">
                <a:solidFill>
                  <a:srgbClr val="272525"/>
                </a:solidFill>
                <a:latin typeface="Calibri"/>
              </a:rPr>
              <a:t>•  Crowns are filtered by confidence and by area (4 to 2000 m²).</a:t>
            </a:r>
            <a:endParaRPr sz="1600" b="0" dirty="0">
              <a:solidFill>
                <a:srgbClr val="27252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ortho_s1_tr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1234440"/>
            <a:ext cx="1664208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3227832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s1_tree.tif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2.0 cm/px · 228×263 m</a:t>
            </a:r>
          </a:p>
        </p:txBody>
      </p:sp>
      <p:pic>
        <p:nvPicPr>
          <p:cNvPr id="6" name="Picture 5" descr="ortho_s2_tre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165" y="1234440"/>
            <a:ext cx="1751685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01568" y="3227832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s2_tree.tif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2.14 cm/</a:t>
            </a:r>
            <a:r>
              <a:rPr sz="1600" b="0" err="1">
                <a:solidFill>
                  <a:srgbClr val="5F5C5C"/>
                </a:solidFill>
                <a:latin typeface="Calibri"/>
              </a:rPr>
              <a:t>px</a:t>
            </a:r>
            <a:r>
              <a:rPr sz="1600" b="0">
                <a:solidFill>
                  <a:srgbClr val="5F5C5C"/>
                </a:solidFill>
                <a:latin typeface="Calibri"/>
              </a:rPr>
              <a:t> · 250×275 m</a:t>
            </a:r>
          </a:p>
        </p:txBody>
      </p:sp>
      <p:pic>
        <p:nvPicPr>
          <p:cNvPr id="8" name="Picture 7" descr="ortho_s3_tre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5" y="3813048"/>
            <a:ext cx="1792224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58064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s3_tree.tif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2.04 cm/px · 212×227 m</a:t>
            </a:r>
          </a:p>
        </p:txBody>
      </p:sp>
      <p:pic>
        <p:nvPicPr>
          <p:cNvPr id="10" name="Picture 9" descr="ortho_s4_tre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4562" y="3813048"/>
            <a:ext cx="1802892" cy="1920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01568" y="58064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s4_tree.tif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2.0 cm/px · 152×162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1234440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What the app accepts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737360"/>
            <a:ext cx="576072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3333B2"/>
                </a:solidFill>
                <a:latin typeface="Calibri"/>
              </a:rPr>
              <a:t>•  </a:t>
            </a:r>
            <a:r>
              <a:rPr sz="1800" b="0">
                <a:solidFill>
                  <a:srgbClr val="272525"/>
                </a:solidFill>
                <a:latin typeface="Calibri"/>
              </a:rPr>
              <a:t>GeoTIFF file (.tif or .tiff) with its map coordinates built in.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3333B2"/>
                </a:solidFill>
                <a:latin typeface="Calibri"/>
              </a:rPr>
              <a:t>•  </a:t>
            </a:r>
            <a:r>
              <a:rPr sz="1800" b="0">
                <a:solidFill>
                  <a:srgbClr val="272525"/>
                </a:solidFill>
                <a:latin typeface="Calibri"/>
              </a:rPr>
              <a:t>Best results with a ground resolution finer than 8 cm per pixel.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3333B2"/>
                </a:solidFill>
                <a:latin typeface="Calibri"/>
              </a:rPr>
              <a:t>•  </a:t>
            </a:r>
            <a:r>
              <a:rPr sz="1800" b="0">
                <a:solidFill>
                  <a:srgbClr val="272525"/>
                </a:solidFill>
                <a:latin typeface="Calibri"/>
              </a:rPr>
              <a:t>Up to 10 orthomosaics and 5 GB in one project.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3333B2"/>
                </a:solidFill>
                <a:latin typeface="Calibri"/>
              </a:rPr>
              <a:t>•  </a:t>
            </a:r>
            <a:r>
              <a:rPr sz="1800" b="0">
                <a:solidFill>
                  <a:srgbClr val="272525"/>
                </a:solidFill>
                <a:latin typeface="Calibri"/>
              </a:rPr>
              <a:t>Upload from your computer, or paste a Google Drive link shared as "Anyone with the link".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4846320"/>
            <a:ext cx="5760720" cy="114300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84848" y="50749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3333B2"/>
                </a:solidFill>
                <a:latin typeface="Calibri"/>
              </a:rPr>
              <a:t>Tip: </a:t>
            </a:r>
            <a:r>
              <a:rPr sz="1600" b="0">
                <a:solidFill>
                  <a:srgbClr val="272525"/>
                </a:solidFill>
                <a:latin typeface="Calibri"/>
              </a:rPr>
              <a:t>no coordinates in the file? The app asks you for the EPSG code, so the map still lands in the right place.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45720"/>
            <a:ext cx="1142390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Which orthomosaics 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treecrown_user_walkthrough_v3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8368" y="1234440"/>
            <a:ext cx="7772400" cy="4371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5771006"/>
            <a:ext cx="7772400" cy="253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8 min · click the video to play · subtitles on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42248" y="123444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3333B2"/>
                </a:solidFill>
                <a:latin typeface="Calibri"/>
              </a:rPr>
              <a:t>Chapters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42248" y="1691640"/>
            <a:ext cx="31089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72525"/>
                </a:solidFill>
                <a:latin typeface="Calibri"/>
              </a:rPr>
              <a:t>0:00   </a:t>
            </a:r>
            <a:r>
              <a:rPr sz="1600" b="0">
                <a:solidFill>
                  <a:srgbClr val="272525"/>
                </a:solidFill>
                <a:latin typeface="Calibri"/>
              </a:rPr>
              <a:t>Intro &amp; sign in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72525"/>
                </a:solidFill>
                <a:latin typeface="Calibri"/>
              </a:rPr>
              <a:t>0:12   </a:t>
            </a:r>
            <a:r>
              <a:rPr sz="1600" b="0">
                <a:solidFill>
                  <a:srgbClr val="272525"/>
                </a:solidFill>
                <a:latin typeface="Calibri"/>
              </a:rPr>
              <a:t>Create a project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72525"/>
                </a:solidFill>
                <a:latin typeface="Calibri"/>
              </a:rPr>
              <a:t>0:23   </a:t>
            </a:r>
            <a:r>
              <a:rPr sz="1600" b="0">
                <a:solidFill>
                  <a:srgbClr val="272525"/>
                </a:solidFill>
                <a:latin typeface="Calibri"/>
              </a:rPr>
              <a:t>Upload an orthomosaic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72525"/>
                </a:solidFill>
                <a:latin typeface="Calibri"/>
              </a:rPr>
              <a:t>0:51   </a:t>
            </a:r>
            <a:r>
              <a:rPr sz="1600" b="0">
                <a:solidFill>
                  <a:srgbClr val="272525"/>
                </a:solidFill>
                <a:latin typeface="Calibri"/>
              </a:rPr>
              <a:t>Choose the settings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72525"/>
                </a:solidFill>
                <a:latin typeface="Calibri"/>
              </a:rPr>
              <a:t>2:11   </a:t>
            </a:r>
            <a:r>
              <a:rPr sz="1600" b="0">
                <a:solidFill>
                  <a:srgbClr val="272525"/>
                </a:solidFill>
                <a:latin typeface="Calibri"/>
              </a:rPr>
              <a:t>Run the analysis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72525"/>
                </a:solidFill>
                <a:latin typeface="Calibri"/>
              </a:rPr>
              <a:t>2:22   </a:t>
            </a:r>
            <a:r>
              <a:rPr sz="1600" b="0">
                <a:solidFill>
                  <a:srgbClr val="272525"/>
                </a:solidFill>
                <a:latin typeface="Calibri"/>
              </a:rPr>
              <a:t>Check the detections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72525"/>
                </a:solidFill>
                <a:latin typeface="Calibri"/>
              </a:rPr>
              <a:t>2:45   </a:t>
            </a:r>
            <a:r>
              <a:rPr sz="1600" b="0">
                <a:solidFill>
                  <a:srgbClr val="272525"/>
                </a:solidFill>
                <a:latin typeface="Calibri"/>
              </a:rPr>
              <a:t>Parameter Guide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72525"/>
                </a:solidFill>
                <a:latin typeface="Calibri"/>
              </a:rPr>
              <a:t>3:11   </a:t>
            </a:r>
            <a:r>
              <a:rPr sz="1600" b="0">
                <a:solidFill>
                  <a:srgbClr val="272525"/>
                </a:solidFill>
                <a:latin typeface="Calibri"/>
              </a:rPr>
              <a:t>Tune and run again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72525"/>
                </a:solidFill>
                <a:latin typeface="Calibri"/>
              </a:rPr>
              <a:t>4:07   </a:t>
            </a:r>
            <a:r>
              <a:rPr sz="1600" b="0">
                <a:solidFill>
                  <a:srgbClr val="272525"/>
                </a:solidFill>
                <a:latin typeface="Calibri"/>
              </a:rPr>
              <a:t>Review the groups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72525"/>
                </a:solidFill>
                <a:latin typeface="Calibri"/>
              </a:rPr>
              <a:t>4:39   </a:t>
            </a:r>
            <a:r>
              <a:rPr sz="1600" b="0">
                <a:solidFill>
                  <a:srgbClr val="272525"/>
                </a:solidFill>
                <a:latin typeface="Calibri"/>
              </a:rPr>
              <a:t>Name the species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72525"/>
                </a:solidFill>
                <a:latin typeface="Calibri"/>
              </a:rPr>
              <a:t>5:24   </a:t>
            </a:r>
            <a:r>
              <a:rPr sz="1600" b="0">
                <a:solidFill>
                  <a:srgbClr val="272525"/>
                </a:solidFill>
                <a:latin typeface="Calibri"/>
              </a:rPr>
              <a:t>Export the results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72525"/>
                </a:solidFill>
                <a:latin typeface="Calibri"/>
              </a:rPr>
              <a:t>6:23   </a:t>
            </a:r>
            <a:r>
              <a:rPr sz="1600" b="0">
                <a:solidFill>
                  <a:srgbClr val="272525"/>
                </a:solidFill>
                <a:latin typeface="Calibri"/>
              </a:rPr>
              <a:t>Run history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72525"/>
                </a:solidFill>
                <a:latin typeface="Calibri"/>
              </a:rPr>
              <a:t>6:36   </a:t>
            </a:r>
            <a:r>
              <a:rPr sz="1600" b="0">
                <a:solidFill>
                  <a:srgbClr val="272525"/>
                </a:solidFill>
                <a:latin typeface="Calibri"/>
              </a:rPr>
              <a:t>Come back later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72525"/>
                </a:solidFill>
                <a:latin typeface="Calibri"/>
              </a:rPr>
              <a:t>6:58   </a:t>
            </a:r>
            <a:r>
              <a:rPr sz="1600" b="0">
                <a:solidFill>
                  <a:srgbClr val="272525"/>
                </a:solidFill>
                <a:latin typeface="Calibri"/>
              </a:rPr>
              <a:t>Your files in FileBrowser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72525"/>
                </a:solidFill>
                <a:latin typeface="Calibri"/>
              </a:rPr>
              <a:t>7:45   </a:t>
            </a:r>
            <a:r>
              <a:rPr sz="1600" b="0">
                <a:solidFill>
                  <a:srgbClr val="272525"/>
                </a:solidFill>
                <a:latin typeface="Calibri"/>
              </a:rPr>
              <a:t>Wrap-up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45720"/>
            <a:ext cx="1142390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Watch the walkthrough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>
                <a:solidFill>
                  <a:srgbClr val="5F5C5C"/>
                </a:solidFill>
                <a:latin typeface="Calibri"/>
              </a:rPr>
              <a:t>These three charts suggest how many groups (k) your crowns fall into.</a:t>
            </a:r>
          </a:p>
        </p:txBody>
      </p:sp>
      <p:pic>
        <p:nvPicPr>
          <p:cNvPr id="18" name="Picture 4" descr="k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575" y="1691640"/>
            <a:ext cx="8990541" cy="278891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4663440"/>
            <a:ext cx="3442106" cy="114300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4864607"/>
            <a:ext cx="298490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Elbow curve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5230368"/>
            <a:ext cx="298490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Pick the k where the line stops dropping steeply.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4794" y="4663440"/>
            <a:ext cx="3442106" cy="114300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3394" y="4864607"/>
            <a:ext cx="298490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Silhouette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3394" y="5230368"/>
            <a:ext cx="298490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Higher is better: groups are tight and separate.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4663440"/>
            <a:ext cx="3442106" cy="114300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19820" y="4864607"/>
            <a:ext cx="298490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Davies-Bouldin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9820" y="5230368"/>
            <a:ext cx="298490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Lower is better: groups overlap less.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989320"/>
            <a:ext cx="10874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1">
                <a:solidFill>
                  <a:srgbClr val="272525"/>
                </a:solidFill>
                <a:latin typeface="Calibri"/>
              </a:rPr>
              <a:t>The red dashed line is the app's suggestion. </a:t>
            </a:r>
            <a:r>
              <a:rPr sz="1800" b="0">
                <a:solidFill>
                  <a:srgbClr val="272525"/>
                </a:solidFill>
                <a:latin typeface="Calibri"/>
              </a:rPr>
              <a:t>Use it unless the sample crowns of a group look mixed — then try the next 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45720"/>
            <a:ext cx="1142390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Reading the group-count charts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3" descr="tsne_k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87" y="1234440"/>
            <a:ext cx="599440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04888" y="1417320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What you are looking 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4888" y="1920240"/>
            <a:ext cx="46634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3333B2"/>
                </a:solidFill>
                <a:latin typeface="Calibri"/>
              </a:rPr>
              <a:t>•  </a:t>
            </a:r>
            <a:r>
              <a:rPr sz="1800" b="0">
                <a:solidFill>
                  <a:srgbClr val="272525"/>
                </a:solidFill>
                <a:latin typeface="Calibri"/>
              </a:rPr>
              <a:t>Every dot is one tree crown that was detected.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3333B2"/>
                </a:solidFill>
                <a:latin typeface="Calibri"/>
              </a:rPr>
              <a:t>•  </a:t>
            </a:r>
            <a:r>
              <a:rPr sz="1800" b="0">
                <a:solidFill>
                  <a:srgbClr val="272525"/>
                </a:solidFill>
                <a:latin typeface="Calibri"/>
              </a:rPr>
              <a:t>Dots with the same colour are in the same group.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3333B2"/>
                </a:solidFill>
                <a:latin typeface="Calibri"/>
              </a:rPr>
              <a:t>•  </a:t>
            </a:r>
            <a:r>
              <a:rPr sz="1800" b="0">
                <a:solidFill>
                  <a:srgbClr val="272525"/>
                </a:solidFill>
                <a:latin typeface="Calibri"/>
              </a:rPr>
              <a:t>Dots close together look alike to the model.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3333B2"/>
                </a:solidFill>
                <a:latin typeface="Calibri"/>
              </a:rPr>
              <a:t>•  </a:t>
            </a:r>
            <a:r>
              <a:rPr sz="1800" b="0">
                <a:solidFill>
                  <a:srgbClr val="272525"/>
                </a:solidFill>
                <a:latin typeface="Calibri"/>
              </a:rPr>
              <a:t>Tight, separate patches of colour mean clean groups.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3333B2"/>
                </a:solidFill>
                <a:latin typeface="Calibri"/>
              </a:rPr>
              <a:t>•  </a:t>
            </a:r>
            <a:r>
              <a:rPr sz="1800" b="0">
                <a:solidFill>
                  <a:srgbClr val="272525"/>
                </a:solidFill>
                <a:latin typeface="Calibri"/>
              </a:rPr>
              <a:t>Colours mixed all through each other mean the groups overlap — try another 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45720"/>
            <a:ext cx="1142390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Reading the crown map (t-SNE)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3" descr="ov_run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" y="1234440"/>
            <a:ext cx="448056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70448" y="1417320"/>
            <a:ext cx="5852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Check what our model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70448" y="1920240"/>
            <a:ext cx="585216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3333B2"/>
                </a:solidFill>
                <a:latin typeface="Calibri"/>
              </a:rPr>
              <a:t>•  </a:t>
            </a:r>
            <a:r>
              <a:rPr sz="1800" b="0">
                <a:solidFill>
                  <a:srgbClr val="272525"/>
                </a:solidFill>
                <a:latin typeface="Calibri"/>
              </a:rPr>
              <a:t>Every red outline is one tree crown the model detected.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3333B2"/>
                </a:solidFill>
                <a:latin typeface="Calibri"/>
              </a:rPr>
              <a:t>•  </a:t>
            </a:r>
            <a:r>
              <a:rPr sz="1800" b="0">
                <a:solidFill>
                  <a:srgbClr val="272525"/>
                </a:solidFill>
                <a:latin typeface="Calibri"/>
              </a:rPr>
              <a:t>Compare the outlines against the trees you can see.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3333B2"/>
                </a:solidFill>
                <a:latin typeface="Calibri"/>
              </a:rPr>
              <a:t>•  </a:t>
            </a:r>
            <a:r>
              <a:rPr sz="1800" b="0">
                <a:solidFill>
                  <a:srgbClr val="272525"/>
                </a:solidFill>
                <a:latin typeface="Calibri"/>
              </a:rPr>
              <a:t>Trees with no outline were missed.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3333B2"/>
                </a:solidFill>
                <a:latin typeface="Calibri"/>
              </a:rPr>
              <a:t>•  </a:t>
            </a:r>
            <a:r>
              <a:rPr sz="1800" b="0">
                <a:solidFill>
                  <a:srgbClr val="272525"/>
                </a:solidFill>
                <a:latin typeface="Calibri"/>
              </a:rPr>
              <a:t>One outline around several trees means they were merged.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3333B2"/>
                </a:solidFill>
                <a:latin typeface="Calibri"/>
              </a:rPr>
              <a:t>•  </a:t>
            </a:r>
            <a:r>
              <a:rPr sz="1800" b="0">
                <a:solidFill>
                  <a:srgbClr val="272525"/>
                </a:solidFill>
                <a:latin typeface="Calibri"/>
              </a:rPr>
              <a:t>It sits at the top of the review. Click it to see it full size.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45720"/>
            <a:ext cx="1142390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The detection overlay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>
                <a:solidFill>
                  <a:srgbClr val="5F5C5C"/>
                </a:solidFill>
                <a:latin typeface="Calibri"/>
              </a:rPr>
              <a:t>The Guide tab lists what you see, why it happens and the setting to change.</a:t>
            </a:r>
          </a:p>
        </p:txBody>
      </p:sp>
      <p:pic>
        <p:nvPicPr>
          <p:cNvPr id="20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" y="2268415"/>
            <a:ext cx="6583679" cy="286980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53527" y="1737360"/>
            <a:ext cx="4251960" cy="86868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82127" y="187452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Big crowns missed or cut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2127" y="22402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3333B2"/>
                </a:solidFill>
                <a:latin typeface="Calibri"/>
              </a:rPr>
              <a:t>Raise tile_size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53527" y="2761488"/>
            <a:ext cx="4251960" cy="86868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82127" y="2898648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Far fewer trees than you see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2127" y="326440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3333B2"/>
                </a:solidFill>
                <a:latin typeface="Calibri"/>
              </a:rPr>
              <a:t>Lower conf_threshold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53527" y="3785615"/>
            <a:ext cx="4251960" cy="86868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2127" y="3922776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Nothing found along an 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428853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3333B2"/>
                </a:solidFill>
                <a:latin typeface="Calibri"/>
              </a:rPr>
              <a:t>Turn on full coverage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53527" y="4809744"/>
            <a:ext cx="4251960" cy="86868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2127" y="494690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A lawn marked as one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531266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3333B2"/>
                </a:solidFill>
                <a:latin typeface="Calibri"/>
              </a:rPr>
              <a:t>Lower area_max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45720"/>
            <a:ext cx="1142390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Poor results? Use the Guide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5394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Run 1 · default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18488"/>
            <a:ext cx="5394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tile_size 10 · conf_threshold 0.85 · area_max 2000</a:t>
            </a:r>
          </a:p>
        </p:txBody>
      </p:sp>
      <p:pic>
        <p:nvPicPr>
          <p:cNvPr id="14" name="Picture 5" descr="ov_run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2350008"/>
            <a:ext cx="32918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733287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3333B2"/>
                </a:solidFill>
                <a:latin typeface="Calibri"/>
              </a:rPr>
              <a:t>173 crowns</a:t>
            </a:r>
            <a:r>
              <a:rPr sz="1600" b="1">
                <a:solidFill>
                  <a:srgbClr val="5F5C5C"/>
                </a:solidFill>
                <a:latin typeface="Calibri"/>
              </a:rPr>
              <a:t> 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6288" y="1234440"/>
            <a:ext cx="5394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Run 2 · tuned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6288" y="1618488"/>
            <a:ext cx="5394960" cy="253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 err="1">
                <a:solidFill>
                  <a:srgbClr val="5F5C5C"/>
                </a:solidFill>
                <a:latin typeface="Calibri"/>
              </a:rPr>
              <a:t>tile_size</a:t>
            </a:r>
            <a:r>
              <a:rPr sz="1600" b="0">
                <a:solidFill>
                  <a:srgbClr val="5F5C5C"/>
                </a:solidFill>
                <a:latin typeface="Calibri"/>
              </a:rPr>
              <a:t> 20 · </a:t>
            </a:r>
            <a:r>
              <a:rPr sz="1600" b="0" err="1">
                <a:solidFill>
                  <a:srgbClr val="5F5C5C"/>
                </a:solidFill>
                <a:latin typeface="Calibri"/>
              </a:rPr>
              <a:t>buffer</a:t>
            </a:r>
            <a:r>
              <a:rPr sz="1600" b="0">
                <a:solidFill>
                  <a:srgbClr val="5F5C5C"/>
                </a:solidFill>
                <a:latin typeface="Calibri"/>
              </a:rPr>
              <a:t> 15 · </a:t>
            </a:r>
            <a:r>
              <a:rPr sz="1600" b="0" err="1">
                <a:solidFill>
                  <a:srgbClr val="5F5C5C"/>
                </a:solidFill>
                <a:latin typeface="Calibri"/>
              </a:rPr>
              <a:t>conf_threshold</a:t>
            </a:r>
            <a:r>
              <a:rPr sz="1600" b="0">
                <a:solidFill>
                  <a:srgbClr val="5F5C5C"/>
                </a:solidFill>
                <a:latin typeface="Calibri"/>
              </a:rPr>
              <a:t> 0.5</a:t>
            </a:r>
            <a:br/>
            <a:r>
              <a:rPr sz="1600" b="0" err="1">
                <a:solidFill>
                  <a:srgbClr val="5F5C5C"/>
                </a:solidFill>
                <a:latin typeface="Calibri"/>
              </a:rPr>
              <a:t>area_max</a:t>
            </a:r>
            <a:r>
              <a:rPr sz="1600" b="0">
                <a:solidFill>
                  <a:srgbClr val="5F5C5C"/>
                </a:solidFill>
                <a:latin typeface="Calibri"/>
              </a:rPr>
              <a:t> 200 · </a:t>
            </a:r>
            <a:r>
              <a:rPr sz="1600" b="0" err="1">
                <a:solidFill>
                  <a:srgbClr val="5F5C5C"/>
                </a:solidFill>
                <a:latin typeface="Calibri"/>
              </a:rPr>
              <a:t>full_coverage</a:t>
            </a:r>
            <a:r>
              <a:rPr sz="1600" b="0">
                <a:solidFill>
                  <a:srgbClr val="5F5C5C"/>
                </a:solidFill>
                <a:latin typeface="Calibri"/>
              </a:rPr>
              <a:t> on</a:t>
            </a:r>
          </a:p>
        </p:txBody>
      </p:sp>
      <p:pic>
        <p:nvPicPr>
          <p:cNvPr id="15" name="Picture 9" descr="ov_run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2350008"/>
            <a:ext cx="329184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76288" y="5733287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3333B2"/>
                </a:solidFill>
                <a:latin typeface="Calibri"/>
              </a:rPr>
              <a:t>783 crowns</a:t>
            </a:r>
            <a:r>
              <a:rPr sz="1600" b="1">
                <a:solidFill>
                  <a:srgbClr val="5F5C5C"/>
                </a:solidFill>
                <a:latin typeface="Calibri"/>
              </a:rPr>
              <a:t>  detected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45720"/>
            <a:ext cx="1142390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Better settings, far more trees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34421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Species map (KMZ)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58568"/>
            <a:ext cx="344210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Opens in Google Earth or any GIS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4794" y="1874519"/>
            <a:ext cx="34421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CSV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2258568"/>
            <a:ext cx="344210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Every crown with its species, ready for Excel.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1220" y="1874519"/>
            <a:ext cx="34421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STAC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1220" y="2258568"/>
            <a:ext cx="344210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So the dataset can be catalogued and found later.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114800"/>
            <a:ext cx="34421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FileBrowser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98848"/>
            <a:ext cx="344210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A shareable link to every file of the run.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4794" y="4114800"/>
            <a:ext cx="344210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000" b="1">
                <a:solidFill>
                  <a:srgbClr val="272525"/>
                </a:solidFill>
                <a:latin typeface="Calibri"/>
              </a:rPr>
              <a:t>Every run is kept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4794" y="4498848"/>
            <a:ext cx="344210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solidFill>
                  <a:srgbClr val="5F5C5C"/>
                </a:solidFill>
                <a:latin typeface="Calibri"/>
              </a:rPr>
              <a:t>Compare settings and finish any run later.</a:t>
            </a:r>
          </a:p>
        </p:txBody>
      </p:sp>
      <p:pic>
        <p:nvPicPr>
          <p:cNvPr id="22" name="Picture 18" descr="c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220" y="3582782"/>
            <a:ext cx="3442105" cy="106433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173623"/>
            <a:ext cx="11423904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What you get</a:t>
            </a:r>
            <a:r>
              <a:rPr lang="en-US" sz="2200" b="0">
                <a:solidFill>
                  <a:srgbClr val="FFFFFF"/>
                </a:solidFill>
                <a:latin typeface="Calibri"/>
              </a:rPr>
              <a:t> as Final Output</a:t>
            </a:r>
            <a:endParaRPr sz="2200" b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1142390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Your files in FileBrowser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8752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272525"/>
                </a:solidFill>
                <a:latin typeface="Calibri"/>
              </a:rPr>
              <a:t>Every run gets its own read-only folder link. Open it in a browser, nothing to install.</a:t>
            </a:r>
          </a:p>
        </p:txBody>
      </p:sp>
      <p:pic>
        <p:nvPicPr>
          <p:cNvPr id="17" name="Picture 5" descr="c_fb_r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6492240" cy="31174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4836535"/>
            <a:ext cx="6492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F5C5C"/>
                </a:solidFill>
                <a:latin typeface="Calibri"/>
              </a:rPr>
              <a:t>The link opens straight at the run folder, with a download button for the whole run.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572768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333B2"/>
                </a:solidFill>
                <a:latin typeface="Calibri"/>
              </a:rPr>
              <a:t>What is in a run folder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10312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3333B2"/>
                </a:solidFill>
                <a:latin typeface="Calibri"/>
              </a:rPr>
              <a:t>ortho  </a:t>
            </a:r>
            <a:r>
              <a:rPr sz="1600">
                <a:solidFill>
                  <a:srgbClr val="272525"/>
                </a:solidFill>
                <a:latin typeface="Calibri"/>
              </a:rPr>
              <a:t>the orthomosaic this run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56032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3333B2"/>
                </a:solidFill>
                <a:latin typeface="Calibri"/>
              </a:rPr>
              <a:t>detectree  </a:t>
            </a:r>
            <a:r>
              <a:rPr sz="1600">
                <a:solidFill>
                  <a:srgbClr val="272525"/>
                </a:solidFill>
                <a:latin typeface="Calibri"/>
              </a:rPr>
              <a:t>raw output from the detector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01752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3333B2"/>
                </a:solidFill>
                <a:latin typeface="Calibri"/>
              </a:rPr>
              <a:t>polygons  </a:t>
            </a:r>
            <a:r>
              <a:rPr sz="1600">
                <a:solidFill>
                  <a:srgbClr val="272525"/>
                </a:solidFill>
                <a:latin typeface="Calibri"/>
              </a:rPr>
              <a:t>crown outlines as map shapes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47472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3333B2"/>
                </a:solidFill>
                <a:latin typeface="Calibri"/>
              </a:rPr>
              <a:t>step1_output  </a:t>
            </a:r>
            <a:r>
              <a:rPr sz="1600">
                <a:solidFill>
                  <a:srgbClr val="272525"/>
                </a:solidFill>
                <a:latin typeface="Calibri"/>
              </a:rPr>
              <a:t>crown pictures and the plots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93192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3333B2"/>
                </a:solidFill>
                <a:latin typeface="Calibri"/>
              </a:rPr>
              <a:t>step2_output  </a:t>
            </a:r>
            <a:r>
              <a:rPr sz="1600">
                <a:solidFill>
                  <a:srgbClr val="272525"/>
                </a:solidFill>
                <a:latin typeface="Calibri"/>
              </a:rPr>
              <a:t>crowns with their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438912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3333B2"/>
                </a:solidFill>
                <a:latin typeface="Calibri"/>
              </a:rPr>
              <a:t>step3_output  </a:t>
            </a:r>
            <a:r>
              <a:rPr sz="1600">
                <a:solidFill>
                  <a:srgbClr val="272525"/>
                </a:solidFill>
                <a:latin typeface="Calibri"/>
              </a:rPr>
              <a:t>per-run summary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484632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3333B2"/>
                </a:solidFill>
                <a:latin typeface="Calibri"/>
              </a:rPr>
              <a:t>step4_output  </a:t>
            </a:r>
            <a:r>
              <a:rPr sz="1600">
                <a:solidFill>
                  <a:srgbClr val="272525"/>
                </a:solidFill>
                <a:latin typeface="Calibri"/>
              </a:rPr>
              <a:t>species_map.kmz, CSV, GeoJSON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530352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3333B2"/>
                </a:solidFill>
                <a:latin typeface="Calibri"/>
              </a:rPr>
              <a:t>logs  </a:t>
            </a:r>
            <a:r>
              <a:rPr sz="1600">
                <a:solidFill>
                  <a:srgbClr val="272525"/>
                </a:solidFill>
                <a:latin typeface="Calibri"/>
              </a:rPr>
              <a:t>what the run did, step by step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45720"/>
            <a:ext cx="11423904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Inside a run folder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8752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272525"/>
                </a:solidFill>
                <a:latin typeface="Calibri"/>
              </a:rPr>
              <a:t>The two folders you will open most often.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333B2"/>
                </a:solidFill>
                <a:latin typeface="Calibri"/>
              </a:rPr>
              <a:t>step4_output: the finished map</a:t>
            </a:r>
          </a:p>
        </p:txBody>
      </p:sp>
      <p:pic>
        <p:nvPicPr>
          <p:cNvPr id="15" name="Picture 6" descr="c_fb_ste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4519"/>
            <a:ext cx="5669277" cy="9938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2971800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F5C5C"/>
                </a:solidFill>
                <a:latin typeface="Calibri"/>
              </a:rPr>
              <a:t>species_map.kmz opens in Google Earth. The CSV and GeoJSON sit beside it, with the STAC record.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0332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333B2"/>
                </a:solidFill>
                <a:latin typeface="Calibri"/>
              </a:rPr>
              <a:t>step1_output: the crown pictures</a:t>
            </a:r>
          </a:p>
        </p:txBody>
      </p:sp>
      <p:pic>
        <p:nvPicPr>
          <p:cNvPr id="16" name="Picture 9" descr="c_fb_crow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114800"/>
            <a:ext cx="5669280" cy="153398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903720" y="1463040"/>
            <a:ext cx="4663440" cy="4023360"/>
          </a:xfrm>
          <a:prstGeom prst="roundRect">
            <a:avLst>
              <a:gd name="adj" fmla="val 6000"/>
            </a:avLst>
          </a:prstGeom>
          <a:solidFill>
            <a:srgbClr val="EEEEF8"/>
          </a:solidFill>
          <a:ln w="12700">
            <a:solidFill>
              <a:srgbClr val="C5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8040" y="16916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3333B2"/>
                </a:solidFill>
                <a:latin typeface="Calibri"/>
              </a:rPr>
              <a:t>Working with the folder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148840"/>
            <a:ext cx="4114800" cy="272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72525"/>
                </a:solidFill>
                <a:latin typeface="Calibri"/>
              </a:rPr>
              <a:t>The link is read-only, so nothing can be changed or deleted by mistake.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72525"/>
                </a:solidFill>
                <a:latin typeface="Calibri"/>
              </a:rPr>
              <a:t>The download button takes the whole run as one zip; the QR code carries the same link.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72525"/>
                </a:solidFill>
                <a:latin typeface="Calibri"/>
              </a:rPr>
              <a:t>Click any picture to preview it 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72525"/>
                </a:solidFill>
                <a:latin typeface="Calibri"/>
              </a:rPr>
              <a:t>Each run keeps its own folder, so run_1 and run_2 never mix.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72525"/>
                </a:solidFill>
                <a:latin typeface="Calibri"/>
              </a:rPr>
              <a:t>Share the link with anyone who needs the outputs.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562356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F5C5C"/>
                </a:solidFill>
                <a:latin typeface="Calibri"/>
              </a:rPr>
              <a:t>clustering/k2/thumbs holds the sample crowns you named.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108960" y="2377440"/>
            <a:ext cx="5974080" cy="1371600"/>
          </a:xfrm>
          <a:prstGeom prst="roundRect">
            <a:avLst>
              <a:gd name="adj" fmla="val 10000"/>
            </a:avLst>
          </a:prstGeom>
          <a:solidFill>
            <a:srgbClr val="333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08960" y="2377440"/>
            <a:ext cx="59740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0449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35FDF58-9709-4B9A-A4F7-B0D453F24D5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8d7b7794-4f7d-452a-a08a-225165fc08e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1375</Words>
  <Application>Microsoft Office PowerPoint</Application>
  <PresentationFormat>Widescreen</PresentationFormat>
  <Paragraphs>198</Paragraphs>
  <Slides>17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Susmit Mahato</cp:lastModifiedBy>
  <cp:revision>13</cp:revision>
  <dcterms:created xsi:type="dcterms:W3CDTF">2013-01-27T09:14:16Z</dcterms:created>
  <dcterms:modified xsi:type="dcterms:W3CDTF">2026-10-12T09:06:18Z</dcterms:modified>
  <cp:category/>
</cp:coreProperties>
</file>